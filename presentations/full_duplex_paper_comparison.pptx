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E6A8262-AA6D-435D-9640-DECDC228C2E8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524000" cy="114300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0C2838-8041-43B6-A7C8-E59EE5C4E26F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7239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全双工语音对话</a:t>
            </a:r>
          </a:p>
          <a:p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论文方案对比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1B880F-DCE8-49B8-AD9C-A4B76B114075}"/>
              </a:ext>
            </a:extLst>
          </p:cNvPr>
          <p:cNvSpPr>
            <a:spLocks noGrp="1"/>
          </p:cNvSpPr>
          <p:nvPr/>
        </p:nvSpPr>
        <p:spPr>
          <a:xfrm>
            <a:off x="628650" y="300990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FastTurn / SoulX-Duplug / Easy Turn / LLM-Enhanced DM / Phoenix-VAD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26308B-AE31-4EFB-819A-CDDFD8E22B9E}"/>
              </a:ext>
            </a:extLst>
          </p:cNvPr>
          <p:cNvSpPr>
            <a:spLocks noGrp="1"/>
          </p:cNvSpPr>
          <p:nvPr/>
        </p:nvSpPr>
        <p:spPr>
          <a:xfrm>
            <a:off x="7810500" y="1238250"/>
            <a:ext cx="3143250" cy="314325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D524F4-AEED-4F0B-A07F-70136E09D64F}"/>
              </a:ext>
            </a:extLst>
          </p:cNvPr>
          <p:cNvSpPr>
            <a:spLocks noGrp="1"/>
          </p:cNvSpPr>
          <p:nvPr/>
        </p:nvSpPr>
        <p:spPr>
          <a:xfrm>
            <a:off x="8115300" y="15811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对比目标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2AB86D-E3E7-4C9F-804A-D25CE5B87EC8}"/>
              </a:ext>
            </a:extLst>
          </p:cNvPr>
          <p:cNvSpPr>
            <a:spLocks noGrp="1"/>
          </p:cNvSpPr>
          <p:nvPr/>
        </p:nvSpPr>
        <p:spPr>
          <a:xfrm>
            <a:off x="8115300" y="2162175"/>
            <a:ext cx="76200" cy="76200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E688CD-20D2-4CC3-9C4F-43F589CEB868}"/>
              </a:ext>
            </a:extLst>
          </p:cNvPr>
          <p:cNvSpPr>
            <a:spLocks noGrp="1"/>
          </p:cNvSpPr>
          <p:nvPr/>
        </p:nvSpPr>
        <p:spPr>
          <a:xfrm>
            <a:off x="8324850" y="209550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每篇论文的核心方案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779D1D-0095-4747-B768-7DFC9C9E2103}"/>
              </a:ext>
            </a:extLst>
          </p:cNvPr>
          <p:cNvSpPr>
            <a:spLocks noGrp="1"/>
          </p:cNvSpPr>
          <p:nvPr/>
        </p:nvSpPr>
        <p:spPr>
          <a:xfrm>
            <a:off x="8115300" y="2619375"/>
            <a:ext cx="76200" cy="76200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CFF58EA-395C-400B-8F35-C50D4E7D2670}"/>
              </a:ext>
            </a:extLst>
          </p:cNvPr>
          <p:cNvSpPr>
            <a:spLocks noGrp="1"/>
          </p:cNvSpPr>
          <p:nvPr/>
        </p:nvSpPr>
        <p:spPr>
          <a:xfrm>
            <a:off x="8324850" y="255270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方案之间的能力差异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4B7EC0-6DF5-419E-94CF-3174DA507539}"/>
              </a:ext>
            </a:extLst>
          </p:cNvPr>
          <p:cNvSpPr>
            <a:spLocks noGrp="1"/>
          </p:cNvSpPr>
          <p:nvPr/>
        </p:nvSpPr>
        <p:spPr>
          <a:xfrm>
            <a:off x="8115300" y="3076575"/>
            <a:ext cx="76200" cy="76200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47F322-EED7-41F8-B04F-4F72DD8D72E1}"/>
              </a:ext>
            </a:extLst>
          </p:cNvPr>
          <p:cNvSpPr>
            <a:spLocks noGrp="1"/>
          </p:cNvSpPr>
          <p:nvPr/>
        </p:nvSpPr>
        <p:spPr>
          <a:xfrm>
            <a:off x="8324850" y="300990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当前项目进度对照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3136AE0-4392-4C56-AAAE-92C46D1358D8}"/>
              </a:ext>
            </a:extLst>
          </p:cNvPr>
          <p:cNvSpPr>
            <a:spLocks noGrp="1"/>
          </p:cNvSpPr>
          <p:nvPr/>
        </p:nvSpPr>
        <p:spPr>
          <a:xfrm>
            <a:off x="628650" y="609600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健康管理助手全双工轮次管理调研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9FA19D-1FAD-4268-B95C-EF31740D6222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07858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AFF7D5AB-F10F-44CC-A5B5-6F0186C5E5D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全双工语音交互论文对比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015097-26DF-4C1A-B4C8-4EDCB7F89F31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五篇论文都在回答同一个问题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1AD3F1-3F0E-48F5-80B8-6ED3A44326E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F0E8A1-6E0E-4015-80A1-7B98E1562B3D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语音 Agent 不能只判断“有没有声音”，还要判断这段声音在对话里意味着什么。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789E5C-4C51-4655-AC58-D08CF9E4216A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2247900" cy="238125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A6785B-FE85-45B1-BC4B-349C1991954F}"/>
              </a:ext>
            </a:extLst>
          </p:cNvPr>
          <p:cNvSpPr>
            <a:spLocks noGrp="1"/>
          </p:cNvSpPr>
          <p:nvPr/>
        </p:nvSpPr>
        <p:spPr>
          <a:xfrm>
            <a:off x="857250" y="24955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用户没说完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2B0C89-CE02-4D1F-BF2A-DD5F6D4DB317}"/>
              </a:ext>
            </a:extLst>
          </p:cNvPr>
          <p:cNvSpPr>
            <a:spLocks noGrp="1"/>
          </p:cNvSpPr>
          <p:nvPr/>
        </p:nvSpPr>
        <p:spPr>
          <a:xfrm>
            <a:off x="857250" y="2990850"/>
            <a:ext cx="1885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句中停顿、犹豫、枚举还没结束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BDB13B-B7F1-46F1-8329-24C9194EB5C6}"/>
              </a:ext>
            </a:extLst>
          </p:cNvPr>
          <p:cNvSpPr>
            <a:spLocks noGrp="1"/>
          </p:cNvSpPr>
          <p:nvPr/>
        </p:nvSpPr>
        <p:spPr>
          <a:xfrm>
            <a:off x="857250" y="3771900"/>
            <a:ext cx="188595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53A21D-B356-4EF0-A17E-810F3CA52D7A}"/>
              </a:ext>
            </a:extLst>
          </p:cNvPr>
          <p:cNvSpPr>
            <a:spLocks noGrp="1"/>
          </p:cNvSpPr>
          <p:nvPr/>
        </p:nvSpPr>
        <p:spPr>
          <a:xfrm>
            <a:off x="857250" y="4000500"/>
            <a:ext cx="188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继续听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4DF09A-5A5F-41E4-8547-E37E45453E25}"/>
              </a:ext>
            </a:extLst>
          </p:cNvPr>
          <p:cNvSpPr>
            <a:spLocks noGrp="1"/>
          </p:cNvSpPr>
          <p:nvPr/>
        </p:nvSpPr>
        <p:spPr>
          <a:xfrm>
            <a:off x="3390900" y="2286000"/>
            <a:ext cx="2247900" cy="238125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F8840A-4340-4336-877B-02EA4D94BBF5}"/>
              </a:ext>
            </a:extLst>
          </p:cNvPr>
          <p:cNvSpPr>
            <a:spLocks noGrp="1"/>
          </p:cNvSpPr>
          <p:nvPr/>
        </p:nvSpPr>
        <p:spPr>
          <a:xfrm>
            <a:off x="3562350" y="24955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用户只是附和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C606DE-9CF3-4A36-92CA-270FA32915AD}"/>
              </a:ext>
            </a:extLst>
          </p:cNvPr>
          <p:cNvSpPr>
            <a:spLocks noGrp="1"/>
          </p:cNvSpPr>
          <p:nvPr/>
        </p:nvSpPr>
        <p:spPr>
          <a:xfrm>
            <a:off x="3562350" y="2990850"/>
            <a:ext cx="1885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嗯、对、好的、yeah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94AB18-99BD-40E7-8E5B-14EF0E584432}"/>
              </a:ext>
            </a:extLst>
          </p:cNvPr>
          <p:cNvSpPr>
            <a:spLocks noGrp="1"/>
          </p:cNvSpPr>
          <p:nvPr/>
        </p:nvSpPr>
        <p:spPr>
          <a:xfrm>
            <a:off x="3562350" y="3771900"/>
            <a:ext cx="188595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C0CE56-7AE1-4566-AE8C-70A45BB5F1D3}"/>
              </a:ext>
            </a:extLst>
          </p:cNvPr>
          <p:cNvSpPr>
            <a:spLocks noGrp="1"/>
          </p:cNvSpPr>
          <p:nvPr/>
        </p:nvSpPr>
        <p:spPr>
          <a:xfrm>
            <a:off x="3562350" y="4000500"/>
            <a:ext cx="188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不要取消 agent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478F2D-A6C4-4A53-9CCB-E34F21C03196}"/>
              </a:ext>
            </a:extLst>
          </p:cNvPr>
          <p:cNvSpPr>
            <a:spLocks noGrp="1"/>
          </p:cNvSpPr>
          <p:nvPr/>
        </p:nvSpPr>
        <p:spPr>
          <a:xfrm>
            <a:off x="6096000" y="2286000"/>
            <a:ext cx="2247900" cy="238125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798D04-6D43-4760-ABC8-55EA2FAA130A}"/>
              </a:ext>
            </a:extLst>
          </p:cNvPr>
          <p:cNvSpPr>
            <a:spLocks noGrp="1"/>
          </p:cNvSpPr>
          <p:nvPr/>
        </p:nvSpPr>
        <p:spPr>
          <a:xfrm>
            <a:off x="6267450" y="24955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用户真正打断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6E1E5CA-6827-4664-96B4-26BC5C96CB59}"/>
              </a:ext>
            </a:extLst>
          </p:cNvPr>
          <p:cNvSpPr>
            <a:spLocks noGrp="1"/>
          </p:cNvSpPr>
          <p:nvPr/>
        </p:nvSpPr>
        <p:spPr>
          <a:xfrm>
            <a:off x="6267450" y="2990850"/>
            <a:ext cx="1885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停一下、等一下、打断纠错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3F2CF34-7531-4D56-A65F-B9A14A8C022E}"/>
              </a:ext>
            </a:extLst>
          </p:cNvPr>
          <p:cNvSpPr>
            <a:spLocks noGrp="1"/>
          </p:cNvSpPr>
          <p:nvPr/>
        </p:nvSpPr>
        <p:spPr>
          <a:xfrm>
            <a:off x="6267450" y="3771900"/>
            <a:ext cx="188595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23B8500-D4AD-4E1E-B550-473974826E28}"/>
              </a:ext>
            </a:extLst>
          </p:cNvPr>
          <p:cNvSpPr>
            <a:spLocks noGrp="1"/>
          </p:cNvSpPr>
          <p:nvPr/>
        </p:nvSpPr>
        <p:spPr>
          <a:xfrm>
            <a:off x="6267450" y="4000500"/>
            <a:ext cx="188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停止当前回复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E4C84A-28F0-4FC3-A72F-B67BBAE01641}"/>
              </a:ext>
            </a:extLst>
          </p:cNvPr>
          <p:cNvSpPr>
            <a:spLocks noGrp="1"/>
          </p:cNvSpPr>
          <p:nvPr/>
        </p:nvSpPr>
        <p:spPr>
          <a:xfrm>
            <a:off x="8801100" y="2286000"/>
            <a:ext cx="2247900" cy="2381250"/>
          </a:xfrm>
          <a:prstGeom prst="rect">
            <a:avLst/>
          </a:prstGeom>
          <a:solidFill>
            <a:srgbClr val="FFF3ED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1AE9747-F6B8-4ECB-AB21-E21ACFA0D95F}"/>
              </a:ext>
            </a:extLst>
          </p:cNvPr>
          <p:cNvSpPr>
            <a:spLocks noGrp="1"/>
          </p:cNvSpPr>
          <p:nvPr/>
        </p:nvSpPr>
        <p:spPr>
          <a:xfrm>
            <a:off x="8972550" y="24955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用户已经说完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62E2AC2-66A8-4D88-9173-B9C130C83164}"/>
              </a:ext>
            </a:extLst>
          </p:cNvPr>
          <p:cNvSpPr>
            <a:spLocks noGrp="1"/>
          </p:cNvSpPr>
          <p:nvPr/>
        </p:nvSpPr>
        <p:spPr>
          <a:xfrm>
            <a:off x="8972550" y="2990850"/>
            <a:ext cx="1885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语义完整，可以回答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3965A7E-FB4E-450C-87FE-D562F1BF7DF6}"/>
              </a:ext>
            </a:extLst>
          </p:cNvPr>
          <p:cNvSpPr>
            <a:spLocks noGrp="1"/>
          </p:cNvSpPr>
          <p:nvPr/>
        </p:nvSpPr>
        <p:spPr>
          <a:xfrm>
            <a:off x="8972550" y="3771900"/>
            <a:ext cx="1885950" cy="190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55DFDF2-9873-4189-AA9D-8B0C0551E4B1}"/>
              </a:ext>
            </a:extLst>
          </p:cNvPr>
          <p:cNvSpPr>
            <a:spLocks noGrp="1"/>
          </p:cNvSpPr>
          <p:nvPr/>
        </p:nvSpPr>
        <p:spPr>
          <a:xfrm>
            <a:off x="8972550" y="4000500"/>
            <a:ext cx="188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开始回答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E032F58-3A2C-4E1A-8710-3EF1EFE25EF9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共同趋势：从声学 VAD 转向语义轮次管理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FFCCD20-AE39-45CF-9E68-2450C623EFC1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66149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3A17053D-4897-408E-9917-5D96C4A18A6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论文方案 1 / FastTurn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C7157A-CA93-4BB6-9736-AFDC04C65985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FastTurn 用声学和流式语义一起做低延迟判断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0C7E29-5C75-4AD8-B66D-23DF80A90F05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EB6EA0-3392-47A3-86AF-24A9BD1F5CE7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7145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F77B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0618FC-749F-43D4-A623-9913562D96FD}"/>
              </a:ext>
            </a:extLst>
          </p:cNvPr>
          <p:cNvSpPr>
            <a:spLocks noGrp="1"/>
          </p:cNvSpPr>
          <p:nvPr/>
        </p:nvSpPr>
        <p:spPr>
          <a:xfrm>
            <a:off x="781050" y="148590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F77B4"/>
                </a:solidFill>
              </a:defRPr>
            </a:pPr>
            <a:r>
              <a:rPr sz="1050" b="1">
                <a:solidFill>
                  <a:srgbClr val="1F77B4"/>
                </a:solidFill>
              </a:rPr>
              <a:t>声学 + 语义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33D7CC-04ED-468A-B7F9-D416C9C2698A}"/>
              </a:ext>
            </a:extLst>
          </p:cNvPr>
          <p:cNvSpPr>
            <a:spLocks noGrp="1"/>
          </p:cNvSpPr>
          <p:nvPr/>
        </p:nvSpPr>
        <p:spPr>
          <a:xfrm>
            <a:off x="2552700" y="1428750"/>
            <a:ext cx="20002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F77B4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19B825-3837-42F0-8B69-0F7E0EF103AE}"/>
              </a:ext>
            </a:extLst>
          </p:cNvPr>
          <p:cNvSpPr>
            <a:spLocks noGrp="1"/>
          </p:cNvSpPr>
          <p:nvPr/>
        </p:nvSpPr>
        <p:spPr>
          <a:xfrm>
            <a:off x="2647950" y="14859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F77B4"/>
                </a:solidFill>
              </a:defRPr>
            </a:pPr>
            <a:r>
              <a:rPr sz="1050" b="1">
                <a:solidFill>
                  <a:srgbClr val="1F77B4"/>
                </a:solidFill>
              </a:rPr>
              <a:t>低延迟 Turn Detection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4F07AB-13E1-491F-BF64-14BB5C89B3E7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核心不是等完整 ASR，而是在 partial 信息里提前判断是否该换轮。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DAC7E67-19EB-4548-9530-30D31F7076C6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3190875" cy="20955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5CC720-3499-4DA8-96CE-2D6962BD6E6C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核心方案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6436E0-4D59-42D1-A164-07C9C0C82CC6}"/>
              </a:ext>
            </a:extLst>
          </p:cNvPr>
          <p:cNvSpPr>
            <a:spLocks noGrp="1"/>
          </p:cNvSpPr>
          <p:nvPr/>
        </p:nvSpPr>
        <p:spPr>
          <a:xfrm>
            <a:off x="876300" y="3409950"/>
            <a:ext cx="2809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融合声学特征、streaming CTC 和 partial semantic cues，在重叠语音、停顿、backchannel 下保持鲁棒。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F4C3EE-D157-42CF-BC5C-3A9D9BD9D9D6}"/>
              </a:ext>
            </a:extLst>
          </p:cNvPr>
          <p:cNvSpPr>
            <a:spLocks noGrp="1"/>
          </p:cNvSpPr>
          <p:nvPr/>
        </p:nvSpPr>
        <p:spPr>
          <a:xfrm>
            <a:off x="4171950" y="2895600"/>
            <a:ext cx="3190875" cy="20955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E9FE8A-83A2-4770-B6A4-F3C5A4C31AB5}"/>
              </a:ext>
            </a:extLst>
          </p:cNvPr>
          <p:cNvSpPr>
            <a:spLocks noGrp="1"/>
          </p:cNvSpPr>
          <p:nvPr/>
        </p:nvSpPr>
        <p:spPr>
          <a:xfrm>
            <a:off x="4362450" y="304800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解决的问题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6F0966-331D-4ABA-9BD6-3CF7212A143E}"/>
              </a:ext>
            </a:extLst>
          </p:cNvPr>
          <p:cNvSpPr>
            <a:spLocks noGrp="1"/>
          </p:cNvSpPr>
          <p:nvPr/>
        </p:nvSpPr>
        <p:spPr>
          <a:xfrm>
            <a:off x="4362450" y="3409950"/>
            <a:ext cx="2809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纯 VAD 没有语义；完整 ASR 级联又会增加延迟，在噪声和 overlap 下更容易退化。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3432EE8-C5DD-42E6-858A-BE18AEE15789}"/>
              </a:ext>
            </a:extLst>
          </p:cNvPr>
          <p:cNvSpPr>
            <a:spLocks noGrp="1"/>
          </p:cNvSpPr>
          <p:nvPr/>
        </p:nvSpPr>
        <p:spPr>
          <a:xfrm>
            <a:off x="7658100" y="2895600"/>
            <a:ext cx="3190875" cy="20955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DC46E61-FD12-4F6E-BFDD-70676C04CA34}"/>
              </a:ext>
            </a:extLst>
          </p:cNvPr>
          <p:cNvSpPr>
            <a:spLocks noGrp="1"/>
          </p:cNvSpPr>
          <p:nvPr/>
        </p:nvSpPr>
        <p:spPr>
          <a:xfrm>
            <a:off x="7848600" y="304800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可借鉴点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60EEBD0-3C1E-4EAB-8750-B4D4A5B426DD}"/>
              </a:ext>
            </a:extLst>
          </p:cNvPr>
          <p:cNvSpPr>
            <a:spLocks noGrp="1"/>
          </p:cNvSpPr>
          <p:nvPr/>
        </p:nvSpPr>
        <p:spPr>
          <a:xfrm>
            <a:off x="7848600" y="3409950"/>
            <a:ext cx="2809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适合作为低延迟 turn detection 的模型路线：声学判断负责快，语义判断负责准。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C48C8D4-1C8B-43C5-989C-E67709538C6B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来源：arXiv:2604.01897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63EB2CE-3C95-42CE-9C78-86A8CC8D1A3F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85123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B83F2C2C-1505-47A0-9205-7A40B993EEA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论文方案 2 / SoulX-Duplug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9C2D6D-57FD-437B-AFC9-72C0A4BE88D8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SoulX-Duplug 把状态预测做成可插拔模块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E136AD-71D0-4C55-97EC-8F0E9EDB64D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59166C-930F-477B-B5BA-D46407422496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7145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EAC052-2481-43E5-8D68-F8A9979C83B5}"/>
              </a:ext>
            </a:extLst>
          </p:cNvPr>
          <p:cNvSpPr>
            <a:spLocks noGrp="1"/>
          </p:cNvSpPr>
          <p:nvPr/>
        </p:nvSpPr>
        <p:spPr>
          <a:xfrm>
            <a:off x="781050" y="148590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E7D32"/>
                </a:solidFill>
              </a:defRPr>
            </a:pPr>
            <a:r>
              <a:rPr sz="1050" b="1">
                <a:solidFill>
                  <a:srgbClr val="2E7D32"/>
                </a:solidFill>
              </a:rPr>
              <a:t>Plug-and-Play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89F5F0-E932-49BF-82E6-7A6DA00C11C4}"/>
              </a:ext>
            </a:extLst>
          </p:cNvPr>
          <p:cNvSpPr>
            <a:spLocks noGrp="1"/>
          </p:cNvSpPr>
          <p:nvPr/>
        </p:nvSpPr>
        <p:spPr>
          <a:xfrm>
            <a:off x="2552700" y="1428750"/>
            <a:ext cx="20002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F2D7BB-77B7-4C34-B54E-531591D4B4AA}"/>
              </a:ext>
            </a:extLst>
          </p:cNvPr>
          <p:cNvSpPr>
            <a:spLocks noGrp="1"/>
          </p:cNvSpPr>
          <p:nvPr/>
        </p:nvSpPr>
        <p:spPr>
          <a:xfrm>
            <a:off x="2647950" y="14859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E7D32"/>
                </a:solidFill>
              </a:defRPr>
            </a:pPr>
            <a:r>
              <a:rPr sz="1050" b="1">
                <a:solidFill>
                  <a:srgbClr val="2E7D32"/>
                </a:solidFill>
              </a:rPr>
              <a:t>Streaming State Prediction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8C560D4-6576-43FE-95FA-42B595AB0B96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主对话模型负责回答，独立模块负责判断当前对话状态。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AE3BD6-5667-4B6A-8A69-B418B40834C9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3190875" cy="20955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CEA7E5-27DA-4041-A947-7C970FC94DA1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核心方案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614058-1D0F-4E6D-8984-E10F3CB28A31}"/>
              </a:ext>
            </a:extLst>
          </p:cNvPr>
          <p:cNvSpPr>
            <a:spLocks noGrp="1"/>
          </p:cNvSpPr>
          <p:nvPr/>
        </p:nvSpPr>
        <p:spPr>
          <a:xfrm>
            <a:off x="876300" y="3409950"/>
            <a:ext cx="2809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外挂 streaming state prediction module，同时利用 streaming ASR 和文本语义做状态判断。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BCF98F-B058-4F25-9C60-C48925AE69F0}"/>
              </a:ext>
            </a:extLst>
          </p:cNvPr>
          <p:cNvSpPr>
            <a:spLocks noGrp="1"/>
          </p:cNvSpPr>
          <p:nvPr/>
        </p:nvSpPr>
        <p:spPr>
          <a:xfrm>
            <a:off x="4171950" y="2895600"/>
            <a:ext cx="3190875" cy="20955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8540A23-BB33-4C70-AB97-C2B376A6F7CD}"/>
              </a:ext>
            </a:extLst>
          </p:cNvPr>
          <p:cNvSpPr>
            <a:spLocks noGrp="1"/>
          </p:cNvSpPr>
          <p:nvPr/>
        </p:nvSpPr>
        <p:spPr>
          <a:xfrm>
            <a:off x="4362450" y="304800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解决的问题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70F5ADE-D4A2-45C8-B9C5-1F6BA029CFCF}"/>
              </a:ext>
            </a:extLst>
          </p:cNvPr>
          <p:cNvSpPr>
            <a:spLocks noGrp="1"/>
          </p:cNvSpPr>
          <p:nvPr/>
        </p:nvSpPr>
        <p:spPr>
          <a:xfrm>
            <a:off x="4362450" y="3409950"/>
            <a:ext cx="2809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全量重训成本高，容易遗忘；轮次管理和主模型绑死后难以单独迭代。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096B2A7-98FF-4E17-B7D7-203C2ABCCCCB}"/>
              </a:ext>
            </a:extLst>
          </p:cNvPr>
          <p:cNvSpPr>
            <a:spLocks noGrp="1"/>
          </p:cNvSpPr>
          <p:nvPr/>
        </p:nvSpPr>
        <p:spPr>
          <a:xfrm>
            <a:off x="7658100" y="2895600"/>
            <a:ext cx="3190875" cy="20955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9DCF77D-8610-4BFF-AB4C-3AADF221E959}"/>
              </a:ext>
            </a:extLst>
          </p:cNvPr>
          <p:cNvSpPr>
            <a:spLocks noGrp="1"/>
          </p:cNvSpPr>
          <p:nvPr/>
        </p:nvSpPr>
        <p:spPr>
          <a:xfrm>
            <a:off x="7848600" y="304800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可借鉴点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67A14C6-763A-43AE-AE43-582264D4E020}"/>
              </a:ext>
            </a:extLst>
          </p:cNvPr>
          <p:cNvSpPr>
            <a:spLocks noGrp="1"/>
          </p:cNvSpPr>
          <p:nvPr/>
        </p:nvSpPr>
        <p:spPr>
          <a:xfrm>
            <a:off x="7848600" y="3409950"/>
            <a:ext cx="2809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适合作为系统架构参考：Turn Manager 独立部署、独立优化、独立评测。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98F0696-21CF-48FF-B5A0-A870F277A617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来源：arXiv:2603.14877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B0C1E9B-FDB0-4EFC-ADEC-EAD9FCA49A76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5543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6B664731-1F5E-4854-BEB2-DFF54221B35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论文方案 3 / Easy Turn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4CD566-6EBA-48DA-AB62-7CC9C0C7F8D0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Easy Turn 给出了最清晰的四类轮次状态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4AF8C3-D95A-4871-9920-35DD9151480D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D3A1DD-9938-420D-8329-E0C7D72643FF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7145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D181A9-DB40-47BC-9C8F-F6B0C6DB48A2}"/>
              </a:ext>
            </a:extLst>
          </p:cNvPr>
          <p:cNvSpPr>
            <a:spLocks noGrp="1"/>
          </p:cNvSpPr>
          <p:nvPr/>
        </p:nvSpPr>
        <p:spPr>
          <a:xfrm>
            <a:off x="781050" y="148590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四状态分类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7A65FE-3ED9-4219-8689-7C9058980835}"/>
              </a:ext>
            </a:extLst>
          </p:cNvPr>
          <p:cNvSpPr>
            <a:spLocks noGrp="1"/>
          </p:cNvSpPr>
          <p:nvPr/>
        </p:nvSpPr>
        <p:spPr>
          <a:xfrm>
            <a:off x="2552700" y="1428750"/>
            <a:ext cx="20002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652ED2-4844-4DAB-AC3F-ED0DF0D66595}"/>
              </a:ext>
            </a:extLst>
          </p:cNvPr>
          <p:cNvSpPr>
            <a:spLocks noGrp="1"/>
          </p:cNvSpPr>
          <p:nvPr/>
        </p:nvSpPr>
        <p:spPr>
          <a:xfrm>
            <a:off x="2647950" y="14859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Acoustic-Linguistic Model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6A7971-56EB-44C6-94D2-1E756C34D617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complete、incomplete、backchannel、wait 可以作为工程状态接口。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392E7E-1FBB-4B1B-9EC8-C1ABD8D9BEAF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3190875" cy="20955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AF478B-C1BB-453D-8B74-67821F2AD74B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核心方案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F468B4-2F95-4A72-937F-9029A7AA93A2}"/>
              </a:ext>
            </a:extLst>
          </p:cNvPr>
          <p:cNvSpPr>
            <a:spLocks noGrp="1"/>
          </p:cNvSpPr>
          <p:nvPr/>
        </p:nvSpPr>
        <p:spPr>
          <a:xfrm>
            <a:off x="876300" y="3409950"/>
            <a:ext cx="2809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融合声学和语言信息，把用户输入判断为完整、未完成、附和或等待。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8D5D4F-0519-481E-A9B0-352D16B439D1}"/>
              </a:ext>
            </a:extLst>
          </p:cNvPr>
          <p:cNvSpPr>
            <a:spLocks noGrp="1"/>
          </p:cNvSpPr>
          <p:nvPr/>
        </p:nvSpPr>
        <p:spPr>
          <a:xfrm>
            <a:off x="4171950" y="2895600"/>
            <a:ext cx="3190875" cy="20955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C18CB94-CBA2-4EAB-99E9-F9546A4A24F3}"/>
              </a:ext>
            </a:extLst>
          </p:cNvPr>
          <p:cNvSpPr>
            <a:spLocks noGrp="1"/>
          </p:cNvSpPr>
          <p:nvPr/>
        </p:nvSpPr>
        <p:spPr>
          <a:xfrm>
            <a:off x="4362450" y="304800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解决的问题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BE7FD5A-F7A8-4A11-9350-FB4CC7A2CCA3}"/>
              </a:ext>
            </a:extLst>
          </p:cNvPr>
          <p:cNvSpPr>
            <a:spLocks noGrp="1"/>
          </p:cNvSpPr>
          <p:nvPr/>
        </p:nvSpPr>
        <p:spPr>
          <a:xfrm>
            <a:off x="4362450" y="3409950"/>
            <a:ext cx="2809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二分类 end-of-turn 太粗，无法区分句中停顿、附和、等待和真正结束。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A56534-DDC0-46D0-BFC7-D7F04D6B410C}"/>
              </a:ext>
            </a:extLst>
          </p:cNvPr>
          <p:cNvSpPr>
            <a:spLocks noGrp="1"/>
          </p:cNvSpPr>
          <p:nvPr/>
        </p:nvSpPr>
        <p:spPr>
          <a:xfrm>
            <a:off x="7658100" y="2895600"/>
            <a:ext cx="3190875" cy="20955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6F73DD-4382-4898-9B55-C2E0A3EA0FF0}"/>
              </a:ext>
            </a:extLst>
          </p:cNvPr>
          <p:cNvSpPr>
            <a:spLocks noGrp="1"/>
          </p:cNvSpPr>
          <p:nvPr/>
        </p:nvSpPr>
        <p:spPr>
          <a:xfrm>
            <a:off x="7848600" y="304800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可借鉴点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B0B7E16-23AB-4576-99C5-8DC6AE8DCFDF}"/>
              </a:ext>
            </a:extLst>
          </p:cNvPr>
          <p:cNvSpPr>
            <a:spLocks noGrp="1"/>
          </p:cNvSpPr>
          <p:nvPr/>
        </p:nvSpPr>
        <p:spPr>
          <a:xfrm>
            <a:off x="7848600" y="3409950"/>
            <a:ext cx="2809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适合作为状态标签标准：先用这四类统一评测和线上决策。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E561C3B-F8AB-4B20-B184-3EB6738A4B6F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来源：arXiv:2509.23938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CA9A998-AE47-4DC7-9DC8-7886EBE6AB2A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65095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2EC118D5-5FE2-459D-8C8D-B139521A07A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论文方案 4 / LLM-Enhanced Dialogue Management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D45290-D94B-4BF7-A68E-34E594AA9AAF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LLM-Enhanced DM 用轻量 LLM 管理听、说、想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A335EB-D661-40BD-A65F-02277B63FEE6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11EE94C-3270-4413-A554-4910E4291FA4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7145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7791F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6D4B0A-9362-488E-B666-09C61D4C57D0}"/>
              </a:ext>
            </a:extLst>
          </p:cNvPr>
          <p:cNvSpPr>
            <a:spLocks noGrp="1"/>
          </p:cNvSpPr>
          <p:nvPr/>
        </p:nvSpPr>
        <p:spPr>
          <a:xfrm>
            <a:off x="781050" y="148590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B7791F"/>
                </a:solidFill>
              </a:defRPr>
            </a:pPr>
            <a:r>
              <a:rPr sz="1050" b="1">
                <a:solidFill>
                  <a:srgbClr val="B7791F"/>
                </a:solidFill>
              </a:rPr>
              <a:t>Semantic VAD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247FA4-70F9-4395-B6B2-D2BC9C14D071}"/>
              </a:ext>
            </a:extLst>
          </p:cNvPr>
          <p:cNvSpPr>
            <a:spLocks noGrp="1"/>
          </p:cNvSpPr>
          <p:nvPr/>
        </p:nvSpPr>
        <p:spPr>
          <a:xfrm>
            <a:off x="2552700" y="1428750"/>
            <a:ext cx="20002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7791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19F6AD-ECD7-4BDC-8187-11074CABEF54}"/>
              </a:ext>
            </a:extLst>
          </p:cNvPr>
          <p:cNvSpPr>
            <a:spLocks noGrp="1"/>
          </p:cNvSpPr>
          <p:nvPr/>
        </p:nvSpPr>
        <p:spPr>
          <a:xfrm>
            <a:off x="2647950" y="14859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B7791F"/>
                </a:solidFill>
              </a:defRPr>
            </a:pPr>
            <a:r>
              <a:rPr sz="1050" b="1">
                <a:solidFill>
                  <a:srgbClr val="B7791F"/>
                </a:solidFill>
              </a:rPr>
              <a:t>Dialogue Manager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4BBDAD-ED3B-440D-8A26-983447B08ADB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控制逻辑不应该完全交给主生成模型，而应由轻量管理器负责。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87E2155-2414-4E18-B2CF-BBFB93641CE5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3190875" cy="20955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D420C5-4A84-4AE3-890E-2F444B50BA9B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核心方案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ECB7F6-5FF8-43B7-ABA8-876940F3DD50}"/>
              </a:ext>
            </a:extLst>
          </p:cNvPr>
          <p:cNvSpPr>
            <a:spLocks noGrp="1"/>
          </p:cNvSpPr>
          <p:nvPr/>
        </p:nvSpPr>
        <p:spPr>
          <a:xfrm>
            <a:off x="876300" y="3409950"/>
            <a:ext cx="2809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用小型 LLM 预测控制 token，管理 turn-switching、turn-keeping、barge-in 和 query completion。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AB737E-D219-4755-9CD4-36CFD0A2D31B}"/>
              </a:ext>
            </a:extLst>
          </p:cNvPr>
          <p:cNvSpPr>
            <a:spLocks noGrp="1"/>
          </p:cNvSpPr>
          <p:nvPr/>
        </p:nvSpPr>
        <p:spPr>
          <a:xfrm>
            <a:off x="4171950" y="2895600"/>
            <a:ext cx="3190875" cy="20955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0989C7-432C-4BC5-B3CD-165D5CD06CB2}"/>
              </a:ext>
            </a:extLst>
          </p:cNvPr>
          <p:cNvSpPr>
            <a:spLocks noGrp="1"/>
          </p:cNvSpPr>
          <p:nvPr/>
        </p:nvSpPr>
        <p:spPr>
          <a:xfrm>
            <a:off x="4362450" y="304800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解决的问题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B6C2CD-6D0D-4895-A03C-A31F2FF35104}"/>
              </a:ext>
            </a:extLst>
          </p:cNvPr>
          <p:cNvSpPr>
            <a:spLocks noGrp="1"/>
          </p:cNvSpPr>
          <p:nvPr/>
        </p:nvSpPr>
        <p:spPr>
          <a:xfrm>
            <a:off x="4362450" y="3409950"/>
            <a:ext cx="2809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全双工系统需要实时协调 listening、speaking、thinking，单靠生成模型很难稳定。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954AE1-BCD4-4CE8-AB62-266C6F4ABD79}"/>
              </a:ext>
            </a:extLst>
          </p:cNvPr>
          <p:cNvSpPr>
            <a:spLocks noGrp="1"/>
          </p:cNvSpPr>
          <p:nvPr/>
        </p:nvSpPr>
        <p:spPr>
          <a:xfrm>
            <a:off x="7658100" y="2895600"/>
            <a:ext cx="3190875" cy="20955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17D2111-D05A-43C5-B87F-95A36EDAAACB}"/>
              </a:ext>
            </a:extLst>
          </p:cNvPr>
          <p:cNvSpPr>
            <a:spLocks noGrp="1"/>
          </p:cNvSpPr>
          <p:nvPr/>
        </p:nvSpPr>
        <p:spPr>
          <a:xfrm>
            <a:off x="7848600" y="304800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可借鉴点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86CAF2-D67E-477A-8B83-F3385C55398C}"/>
              </a:ext>
            </a:extLst>
          </p:cNvPr>
          <p:cNvSpPr>
            <a:spLocks noGrp="1"/>
          </p:cNvSpPr>
          <p:nvPr/>
        </p:nvSpPr>
        <p:spPr>
          <a:xfrm>
            <a:off x="7848600" y="3409950"/>
            <a:ext cx="2809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适合作为管理层设计参考：控制 token 驱动 Agent 状态机。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155AE1F-9AF6-46FA-8289-3DEAEDADE81B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来源：arXiv:2502.14145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E35C11-5D65-450D-A712-C6420143E65F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1626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88BF9922-1BA9-4B51-A08B-064D5137256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论文方案 5 / Phoenix-VAD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46B1BE-DBB3-40C6-B0D2-DDA2ADA8FCD6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Phoenix-VAD 把 endpointing 从声学结束变成语义结束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0388AD-AFA9-4C7E-9021-90816FAC443E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49D733-77CD-4B91-A9E0-D34B09C9FD3B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7145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4231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5ACB7C-2ACE-41B1-B095-88CC2C77C459}"/>
              </a:ext>
            </a:extLst>
          </p:cNvPr>
          <p:cNvSpPr>
            <a:spLocks noGrp="1"/>
          </p:cNvSpPr>
          <p:nvPr/>
        </p:nvSpPr>
        <p:spPr>
          <a:xfrm>
            <a:off x="781050" y="148590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Semantic Endpoint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81992D-1578-4A5A-8F66-5BEF7E7CDC40}"/>
              </a:ext>
            </a:extLst>
          </p:cNvPr>
          <p:cNvSpPr>
            <a:spLocks noGrp="1"/>
          </p:cNvSpPr>
          <p:nvPr/>
        </p:nvSpPr>
        <p:spPr>
          <a:xfrm>
            <a:off x="2552700" y="1428750"/>
            <a:ext cx="20002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4231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151780-900E-498C-ADA8-6AF0E1A5DA30}"/>
              </a:ext>
            </a:extLst>
          </p:cNvPr>
          <p:cNvSpPr>
            <a:spLocks noGrp="1"/>
          </p:cNvSpPr>
          <p:nvPr/>
        </p:nvSpPr>
        <p:spPr>
          <a:xfrm>
            <a:off x="2647950" y="14859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Sliding Window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287BC2-0ABF-4677-8DED-055747F215C9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用户没声音了不等于说完了，关键是语义是否完整。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CEF11F-303A-4D81-90CA-5E8E5CA2CC73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3190875" cy="20955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5B819E-0652-4554-9B00-711FB884C91C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核心方案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81485AC-1C80-4C4D-8400-79418E0664EA}"/>
              </a:ext>
            </a:extLst>
          </p:cNvPr>
          <p:cNvSpPr>
            <a:spLocks noGrp="1"/>
          </p:cNvSpPr>
          <p:nvPr/>
        </p:nvSpPr>
        <p:spPr>
          <a:xfrm>
            <a:off x="876300" y="3409950"/>
            <a:ext cx="2809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用 LLM 判断 streaming 输入是否语义完整，并通过滑动窗口支持流式 endpoint detection。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638D963-A7A4-4800-880B-6088FE8D7CCF}"/>
              </a:ext>
            </a:extLst>
          </p:cNvPr>
          <p:cNvSpPr>
            <a:spLocks noGrp="1"/>
          </p:cNvSpPr>
          <p:nvPr/>
        </p:nvSpPr>
        <p:spPr>
          <a:xfrm>
            <a:off x="4171950" y="2895600"/>
            <a:ext cx="3190875" cy="20955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F7101C-BB1D-416B-9E53-9275F9FADAA6}"/>
              </a:ext>
            </a:extLst>
          </p:cNvPr>
          <p:cNvSpPr>
            <a:spLocks noGrp="1"/>
          </p:cNvSpPr>
          <p:nvPr/>
        </p:nvSpPr>
        <p:spPr>
          <a:xfrm>
            <a:off x="4362450" y="304800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解决的问题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57BC251-2AD5-4697-9010-4BA3A09EE4BE}"/>
              </a:ext>
            </a:extLst>
          </p:cNvPr>
          <p:cNvSpPr>
            <a:spLocks noGrp="1"/>
          </p:cNvSpPr>
          <p:nvPr/>
        </p:nvSpPr>
        <p:spPr>
          <a:xfrm>
            <a:off x="4362450" y="3409950"/>
            <a:ext cx="2809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长问题、枚举、犹豫和健康问诊里，静音阈值很容易导致提前回答。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3B9812C-6C25-4144-99B4-FABF55AAD792}"/>
              </a:ext>
            </a:extLst>
          </p:cNvPr>
          <p:cNvSpPr>
            <a:spLocks noGrp="1"/>
          </p:cNvSpPr>
          <p:nvPr/>
        </p:nvSpPr>
        <p:spPr>
          <a:xfrm>
            <a:off x="7658100" y="2895600"/>
            <a:ext cx="3190875" cy="20955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F686C4B-5938-45D9-A928-F187D364C5BA}"/>
              </a:ext>
            </a:extLst>
          </p:cNvPr>
          <p:cNvSpPr>
            <a:spLocks noGrp="1"/>
          </p:cNvSpPr>
          <p:nvPr/>
        </p:nvSpPr>
        <p:spPr>
          <a:xfrm>
            <a:off x="7848600" y="304800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可借鉴点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F21F602-3954-4E2B-8CAE-E847ABAC38EF}"/>
              </a:ext>
            </a:extLst>
          </p:cNvPr>
          <p:cNvSpPr>
            <a:spLocks noGrp="1"/>
          </p:cNvSpPr>
          <p:nvPr/>
        </p:nvSpPr>
        <p:spPr>
          <a:xfrm>
            <a:off x="7848600" y="3409950"/>
            <a:ext cx="2809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适合作为 endpointing 参考：语义完整短等待，语义不完整长等待。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A0016F1-D33A-46E2-B0E7-071C5D8C9EC1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来源：arXiv:2509.20410v2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2A84B34-30FA-4B82-8ACB-FB65F385B530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87382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矩形 89">
            <a:extLst>
              <a:ext uri="{FF2B5EF4-FFF2-40B4-BE49-F238E27FC236}">
                <a16:creationId xmlns:a16="http://schemas.microsoft.com/office/drawing/2014/main" id="{871330BA-4025-4B53-9C64-05ADC4878EF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全双工语音交互论文对比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80B5FA-4968-473C-BB54-CA5B3F17FF3A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五篇论文的方案重心不同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B3C3F4-CB99-463D-8391-FBD3D7499834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2D9116-D68C-4C79-8B8D-A7C21ABCFBF5}"/>
              </a:ext>
            </a:extLst>
          </p:cNvPr>
          <p:cNvSpPr>
            <a:spLocks noGrp="1"/>
          </p:cNvSpPr>
          <p:nvPr/>
        </p:nvSpPr>
        <p:spPr>
          <a:xfrm>
            <a:off x="647700" y="1524000"/>
            <a:ext cx="1809750" cy="4191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0E5BA4-9D1E-4894-A2FD-02CFE90C940B}"/>
              </a:ext>
            </a:extLst>
          </p:cNvPr>
          <p:cNvSpPr>
            <a:spLocks noGrp="1"/>
          </p:cNvSpPr>
          <p:nvPr/>
        </p:nvSpPr>
        <p:spPr>
          <a:xfrm>
            <a:off x="723900" y="1628775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论文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8B79E7-3227-4C2F-8012-301CE7D9FC27}"/>
              </a:ext>
            </a:extLst>
          </p:cNvPr>
          <p:cNvSpPr>
            <a:spLocks noGrp="1"/>
          </p:cNvSpPr>
          <p:nvPr/>
        </p:nvSpPr>
        <p:spPr>
          <a:xfrm>
            <a:off x="2457450" y="1524000"/>
            <a:ext cx="1428750" cy="4191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007C97-0369-405C-B52B-4F0FD2197FA8}"/>
              </a:ext>
            </a:extLst>
          </p:cNvPr>
          <p:cNvSpPr>
            <a:spLocks noGrp="1"/>
          </p:cNvSpPr>
          <p:nvPr/>
        </p:nvSpPr>
        <p:spPr>
          <a:xfrm>
            <a:off x="2533650" y="1628775"/>
            <a:ext cx="1276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声学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7B27B2-C81B-40FF-9136-F537F43FB8DF}"/>
              </a:ext>
            </a:extLst>
          </p:cNvPr>
          <p:cNvSpPr>
            <a:spLocks noGrp="1"/>
          </p:cNvSpPr>
          <p:nvPr/>
        </p:nvSpPr>
        <p:spPr>
          <a:xfrm>
            <a:off x="3886200" y="1524000"/>
            <a:ext cx="1428750" cy="4191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B3B666B-71E5-4FA3-8AB6-5764AAFD85EF}"/>
              </a:ext>
            </a:extLst>
          </p:cNvPr>
          <p:cNvSpPr>
            <a:spLocks noGrp="1"/>
          </p:cNvSpPr>
          <p:nvPr/>
        </p:nvSpPr>
        <p:spPr>
          <a:xfrm>
            <a:off x="3962400" y="1628775"/>
            <a:ext cx="1276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语义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8C2629-BBEB-4395-9008-8E3C4CD91611}"/>
              </a:ext>
            </a:extLst>
          </p:cNvPr>
          <p:cNvSpPr>
            <a:spLocks noGrp="1"/>
          </p:cNvSpPr>
          <p:nvPr/>
        </p:nvSpPr>
        <p:spPr>
          <a:xfrm>
            <a:off x="5314950" y="1524000"/>
            <a:ext cx="1428750" cy="4191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A158C74-FF5A-45ED-8BF0-E712D799E61B}"/>
              </a:ext>
            </a:extLst>
          </p:cNvPr>
          <p:cNvSpPr>
            <a:spLocks noGrp="1"/>
          </p:cNvSpPr>
          <p:nvPr/>
        </p:nvSpPr>
        <p:spPr>
          <a:xfrm>
            <a:off x="5391150" y="1628775"/>
            <a:ext cx="1276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886157-B7CA-4606-9011-8CCA09A3F2D6}"/>
              </a:ext>
            </a:extLst>
          </p:cNvPr>
          <p:cNvSpPr>
            <a:spLocks noGrp="1"/>
          </p:cNvSpPr>
          <p:nvPr/>
        </p:nvSpPr>
        <p:spPr>
          <a:xfrm>
            <a:off x="6743700" y="1524000"/>
            <a:ext cx="1428750" cy="4191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A0622A0-5564-4242-A2DB-8506552A364A}"/>
              </a:ext>
            </a:extLst>
          </p:cNvPr>
          <p:cNvSpPr>
            <a:spLocks noGrp="1"/>
          </p:cNvSpPr>
          <p:nvPr/>
        </p:nvSpPr>
        <p:spPr>
          <a:xfrm>
            <a:off x="6819900" y="1628775"/>
            <a:ext cx="1276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Backchannel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3A10D69-F9DD-4E5B-B8EF-EF879CFA3148}"/>
              </a:ext>
            </a:extLst>
          </p:cNvPr>
          <p:cNvSpPr>
            <a:spLocks noGrp="1"/>
          </p:cNvSpPr>
          <p:nvPr/>
        </p:nvSpPr>
        <p:spPr>
          <a:xfrm>
            <a:off x="8172450" y="1524000"/>
            <a:ext cx="1428750" cy="4191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894B882-CC4C-4866-ADA2-2C0050B696B9}"/>
              </a:ext>
            </a:extLst>
          </p:cNvPr>
          <p:cNvSpPr>
            <a:spLocks noGrp="1"/>
          </p:cNvSpPr>
          <p:nvPr/>
        </p:nvSpPr>
        <p:spPr>
          <a:xfrm>
            <a:off x="8248650" y="1628775"/>
            <a:ext cx="1276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打断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0BF6724-B069-44F5-8C5A-D6DC20A32440}"/>
              </a:ext>
            </a:extLst>
          </p:cNvPr>
          <p:cNvSpPr>
            <a:spLocks noGrp="1"/>
          </p:cNvSpPr>
          <p:nvPr/>
        </p:nvSpPr>
        <p:spPr>
          <a:xfrm>
            <a:off x="9601200" y="1524000"/>
            <a:ext cx="1428750" cy="4191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CE8C140-C8A4-49A2-BD37-458FE6FFDE30}"/>
              </a:ext>
            </a:extLst>
          </p:cNvPr>
          <p:cNvSpPr>
            <a:spLocks noGrp="1"/>
          </p:cNvSpPr>
          <p:nvPr/>
        </p:nvSpPr>
        <p:spPr>
          <a:xfrm>
            <a:off x="9677400" y="1628775"/>
            <a:ext cx="1276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模块化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942C7A-AF44-405F-BAFC-06936D992A76}"/>
              </a:ext>
            </a:extLst>
          </p:cNvPr>
          <p:cNvSpPr>
            <a:spLocks noGrp="1"/>
          </p:cNvSpPr>
          <p:nvPr/>
        </p:nvSpPr>
        <p:spPr>
          <a:xfrm>
            <a:off x="647700" y="1943100"/>
            <a:ext cx="1809750" cy="5524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BA58437-C3FB-4FE8-B295-053620676392}"/>
              </a:ext>
            </a:extLst>
          </p:cNvPr>
          <p:cNvSpPr>
            <a:spLocks noGrp="1"/>
          </p:cNvSpPr>
          <p:nvPr/>
        </p:nvSpPr>
        <p:spPr>
          <a:xfrm>
            <a:off x="723900" y="21240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FastTurn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59EA121-7D3D-41C6-B04A-BC8483AA1291}"/>
              </a:ext>
            </a:extLst>
          </p:cNvPr>
          <p:cNvSpPr>
            <a:spLocks noGrp="1"/>
          </p:cNvSpPr>
          <p:nvPr/>
        </p:nvSpPr>
        <p:spPr>
          <a:xfrm>
            <a:off x="2457450" y="19431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07C9519-1075-4583-A71C-970710F69F99}"/>
              </a:ext>
            </a:extLst>
          </p:cNvPr>
          <p:cNvSpPr>
            <a:spLocks noGrp="1"/>
          </p:cNvSpPr>
          <p:nvPr/>
        </p:nvSpPr>
        <p:spPr>
          <a:xfrm>
            <a:off x="2533650" y="212407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24BC05E-BE99-4137-8526-F2B16E217B3C}"/>
              </a:ext>
            </a:extLst>
          </p:cNvPr>
          <p:cNvSpPr>
            <a:spLocks noGrp="1"/>
          </p:cNvSpPr>
          <p:nvPr/>
        </p:nvSpPr>
        <p:spPr>
          <a:xfrm>
            <a:off x="3886200" y="19431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8F99EE4-8B1D-43E0-9BA7-D3A252733BE2}"/>
              </a:ext>
            </a:extLst>
          </p:cNvPr>
          <p:cNvSpPr>
            <a:spLocks noGrp="1"/>
          </p:cNvSpPr>
          <p:nvPr/>
        </p:nvSpPr>
        <p:spPr>
          <a:xfrm>
            <a:off x="3962400" y="212407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强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333AD85-C81A-4E56-8497-A850CB3494A1}"/>
              </a:ext>
            </a:extLst>
          </p:cNvPr>
          <p:cNvSpPr>
            <a:spLocks noGrp="1"/>
          </p:cNvSpPr>
          <p:nvPr/>
        </p:nvSpPr>
        <p:spPr>
          <a:xfrm>
            <a:off x="5314950" y="19431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4E3A5EE-7CFE-450B-9DBA-6CB8290D66F4}"/>
              </a:ext>
            </a:extLst>
          </p:cNvPr>
          <p:cNvSpPr>
            <a:spLocks noGrp="1"/>
          </p:cNvSpPr>
          <p:nvPr/>
        </p:nvSpPr>
        <p:spPr>
          <a:xfrm>
            <a:off x="5391150" y="212407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强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E9DFDD5-EFB9-49B9-BB30-D23DA6CB7123}"/>
              </a:ext>
            </a:extLst>
          </p:cNvPr>
          <p:cNvSpPr>
            <a:spLocks noGrp="1"/>
          </p:cNvSpPr>
          <p:nvPr/>
        </p:nvSpPr>
        <p:spPr>
          <a:xfrm>
            <a:off x="6743700" y="19431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CB6368B-A811-44A6-9A53-139B9EF53E20}"/>
              </a:ext>
            </a:extLst>
          </p:cNvPr>
          <p:cNvSpPr>
            <a:spLocks noGrp="1"/>
          </p:cNvSpPr>
          <p:nvPr/>
        </p:nvSpPr>
        <p:spPr>
          <a:xfrm>
            <a:off x="6819900" y="212407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强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647BBAD-908E-487B-8C00-EC3C3E127D5A}"/>
              </a:ext>
            </a:extLst>
          </p:cNvPr>
          <p:cNvSpPr>
            <a:spLocks noGrp="1"/>
          </p:cNvSpPr>
          <p:nvPr/>
        </p:nvSpPr>
        <p:spPr>
          <a:xfrm>
            <a:off x="8172450" y="19431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FA4076E-A94F-4F60-99E5-77A7B0D7D0FB}"/>
              </a:ext>
            </a:extLst>
          </p:cNvPr>
          <p:cNvSpPr>
            <a:spLocks noGrp="1"/>
          </p:cNvSpPr>
          <p:nvPr/>
        </p:nvSpPr>
        <p:spPr>
          <a:xfrm>
            <a:off x="8248650" y="212407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中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3DDB53F-A4CB-46C6-811D-E03E1C2F2D98}"/>
              </a:ext>
            </a:extLst>
          </p:cNvPr>
          <p:cNvSpPr>
            <a:spLocks noGrp="1"/>
          </p:cNvSpPr>
          <p:nvPr/>
        </p:nvSpPr>
        <p:spPr>
          <a:xfrm>
            <a:off x="9601200" y="19431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2344BB7-5182-4B81-905B-1B7046D4FFD6}"/>
              </a:ext>
            </a:extLst>
          </p:cNvPr>
          <p:cNvSpPr>
            <a:spLocks noGrp="1"/>
          </p:cNvSpPr>
          <p:nvPr/>
        </p:nvSpPr>
        <p:spPr>
          <a:xfrm>
            <a:off x="9677400" y="212407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中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C97D0B3-9E79-4D05-BC72-9CD892356B21}"/>
              </a:ext>
            </a:extLst>
          </p:cNvPr>
          <p:cNvSpPr>
            <a:spLocks noGrp="1"/>
          </p:cNvSpPr>
          <p:nvPr/>
        </p:nvSpPr>
        <p:spPr>
          <a:xfrm>
            <a:off x="647700" y="2495550"/>
            <a:ext cx="1809750" cy="5524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BBFE494-2A6E-4CF6-B693-753F79517E92}"/>
              </a:ext>
            </a:extLst>
          </p:cNvPr>
          <p:cNvSpPr>
            <a:spLocks noGrp="1"/>
          </p:cNvSpPr>
          <p:nvPr/>
        </p:nvSpPr>
        <p:spPr>
          <a:xfrm>
            <a:off x="723900" y="26765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SoulX-Duplug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8962F23-9B97-4DB5-B974-14B38DBBED85}"/>
              </a:ext>
            </a:extLst>
          </p:cNvPr>
          <p:cNvSpPr>
            <a:spLocks noGrp="1"/>
          </p:cNvSpPr>
          <p:nvPr/>
        </p:nvSpPr>
        <p:spPr>
          <a:xfrm>
            <a:off x="2457450" y="249555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726A74D-5FA2-470F-BED8-BD59D961C909}"/>
              </a:ext>
            </a:extLst>
          </p:cNvPr>
          <p:cNvSpPr>
            <a:spLocks noGrp="1"/>
          </p:cNvSpPr>
          <p:nvPr/>
        </p:nvSpPr>
        <p:spPr>
          <a:xfrm>
            <a:off x="2533650" y="267652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中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EA8EA02-4D0B-44EA-8C89-680AD567A68C}"/>
              </a:ext>
            </a:extLst>
          </p:cNvPr>
          <p:cNvSpPr>
            <a:spLocks noGrp="1"/>
          </p:cNvSpPr>
          <p:nvPr/>
        </p:nvSpPr>
        <p:spPr>
          <a:xfrm>
            <a:off x="3886200" y="249555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C5D5B13-46FB-4517-A485-CC7E9DB44420}"/>
              </a:ext>
            </a:extLst>
          </p:cNvPr>
          <p:cNvSpPr>
            <a:spLocks noGrp="1"/>
          </p:cNvSpPr>
          <p:nvPr/>
        </p:nvSpPr>
        <p:spPr>
          <a:xfrm>
            <a:off x="3962400" y="267652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7719A79-31F0-493B-A00F-7F1C647547E6}"/>
              </a:ext>
            </a:extLst>
          </p:cNvPr>
          <p:cNvSpPr>
            <a:spLocks noGrp="1"/>
          </p:cNvSpPr>
          <p:nvPr/>
        </p:nvSpPr>
        <p:spPr>
          <a:xfrm>
            <a:off x="5314950" y="249555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79CD2EE-1181-4DCB-B6E0-697D7E92FC8C}"/>
              </a:ext>
            </a:extLst>
          </p:cNvPr>
          <p:cNvSpPr>
            <a:spLocks noGrp="1"/>
          </p:cNvSpPr>
          <p:nvPr/>
        </p:nvSpPr>
        <p:spPr>
          <a:xfrm>
            <a:off x="5391150" y="267652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强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D51B6D6-0737-477D-80D7-C5543A593AE3}"/>
              </a:ext>
            </a:extLst>
          </p:cNvPr>
          <p:cNvSpPr>
            <a:spLocks noGrp="1"/>
          </p:cNvSpPr>
          <p:nvPr/>
        </p:nvSpPr>
        <p:spPr>
          <a:xfrm>
            <a:off x="6743700" y="249555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7AEF107-1D78-4E75-BE67-598ED8E36520}"/>
              </a:ext>
            </a:extLst>
          </p:cNvPr>
          <p:cNvSpPr>
            <a:spLocks noGrp="1"/>
          </p:cNvSpPr>
          <p:nvPr/>
        </p:nvSpPr>
        <p:spPr>
          <a:xfrm>
            <a:off x="6819900" y="267652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中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4DD6351-B9BF-4BE9-9F50-7953D7E78E62}"/>
              </a:ext>
            </a:extLst>
          </p:cNvPr>
          <p:cNvSpPr>
            <a:spLocks noGrp="1"/>
          </p:cNvSpPr>
          <p:nvPr/>
        </p:nvSpPr>
        <p:spPr>
          <a:xfrm>
            <a:off x="8172450" y="249555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D8C2DAD-6ACF-4EA0-9500-1E5B754B52EF}"/>
              </a:ext>
            </a:extLst>
          </p:cNvPr>
          <p:cNvSpPr>
            <a:spLocks noGrp="1"/>
          </p:cNvSpPr>
          <p:nvPr/>
        </p:nvSpPr>
        <p:spPr>
          <a:xfrm>
            <a:off x="8248650" y="267652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强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E92F2C7-8510-4287-A61B-2D972E9B9939}"/>
              </a:ext>
            </a:extLst>
          </p:cNvPr>
          <p:cNvSpPr>
            <a:spLocks noGrp="1"/>
          </p:cNvSpPr>
          <p:nvPr/>
        </p:nvSpPr>
        <p:spPr>
          <a:xfrm>
            <a:off x="9601200" y="249555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B4C1CA7-487B-4C20-9780-8C7A4AA294AB}"/>
              </a:ext>
            </a:extLst>
          </p:cNvPr>
          <p:cNvSpPr>
            <a:spLocks noGrp="1"/>
          </p:cNvSpPr>
          <p:nvPr/>
        </p:nvSpPr>
        <p:spPr>
          <a:xfrm>
            <a:off x="9677400" y="267652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强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44C0176-6FF6-43D8-9F7E-DEACF5A8474D}"/>
              </a:ext>
            </a:extLst>
          </p:cNvPr>
          <p:cNvSpPr>
            <a:spLocks noGrp="1"/>
          </p:cNvSpPr>
          <p:nvPr/>
        </p:nvSpPr>
        <p:spPr>
          <a:xfrm>
            <a:off x="647700" y="3048000"/>
            <a:ext cx="1809750" cy="5524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9633BC4-439F-49A8-9FD9-9F2B67A3488A}"/>
              </a:ext>
            </a:extLst>
          </p:cNvPr>
          <p:cNvSpPr>
            <a:spLocks noGrp="1"/>
          </p:cNvSpPr>
          <p:nvPr/>
        </p:nvSpPr>
        <p:spPr>
          <a:xfrm>
            <a:off x="723900" y="32289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Easy Turn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E8ED44F-3F7C-4821-A39D-94EB00C8F48F}"/>
              </a:ext>
            </a:extLst>
          </p:cNvPr>
          <p:cNvSpPr>
            <a:spLocks noGrp="1"/>
          </p:cNvSpPr>
          <p:nvPr/>
        </p:nvSpPr>
        <p:spPr>
          <a:xfrm>
            <a:off x="2457450" y="30480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EC3F2F4-83BB-4F2A-A7B2-552D2A2B8D1A}"/>
              </a:ext>
            </a:extLst>
          </p:cNvPr>
          <p:cNvSpPr>
            <a:spLocks noGrp="1"/>
          </p:cNvSpPr>
          <p:nvPr/>
        </p:nvSpPr>
        <p:spPr>
          <a:xfrm>
            <a:off x="2533650" y="322897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强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F25A393-DB0E-4BAE-B1BD-E6F691AC4592}"/>
              </a:ext>
            </a:extLst>
          </p:cNvPr>
          <p:cNvSpPr>
            <a:spLocks noGrp="1"/>
          </p:cNvSpPr>
          <p:nvPr/>
        </p:nvSpPr>
        <p:spPr>
          <a:xfrm>
            <a:off x="3886200" y="30480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D4DF653-1433-4EE9-9CEB-F8AA2846E000}"/>
              </a:ext>
            </a:extLst>
          </p:cNvPr>
          <p:cNvSpPr>
            <a:spLocks noGrp="1"/>
          </p:cNvSpPr>
          <p:nvPr/>
        </p:nvSpPr>
        <p:spPr>
          <a:xfrm>
            <a:off x="3962400" y="322897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强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9C52696-845C-4BA0-9796-89A06B6FA55A}"/>
              </a:ext>
            </a:extLst>
          </p:cNvPr>
          <p:cNvSpPr>
            <a:spLocks noGrp="1"/>
          </p:cNvSpPr>
          <p:nvPr/>
        </p:nvSpPr>
        <p:spPr>
          <a:xfrm>
            <a:off x="5314950" y="30480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1AFDF2F-C671-47A5-8052-4D3A907B1447}"/>
              </a:ext>
            </a:extLst>
          </p:cNvPr>
          <p:cNvSpPr>
            <a:spLocks noGrp="1"/>
          </p:cNvSpPr>
          <p:nvPr/>
        </p:nvSpPr>
        <p:spPr>
          <a:xfrm>
            <a:off x="5391150" y="322897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强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ED1BA2E-976B-4C39-922B-5684419A75B3}"/>
              </a:ext>
            </a:extLst>
          </p:cNvPr>
          <p:cNvSpPr>
            <a:spLocks noGrp="1"/>
          </p:cNvSpPr>
          <p:nvPr/>
        </p:nvSpPr>
        <p:spPr>
          <a:xfrm>
            <a:off x="6743700" y="30480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149E517-081C-417E-B74A-0B4FACDF0CFA}"/>
              </a:ext>
            </a:extLst>
          </p:cNvPr>
          <p:cNvSpPr>
            <a:spLocks noGrp="1"/>
          </p:cNvSpPr>
          <p:nvPr/>
        </p:nvSpPr>
        <p:spPr>
          <a:xfrm>
            <a:off x="6819900" y="322897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强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DF11186-5A46-4DD8-B2DE-2975066F56F5}"/>
              </a:ext>
            </a:extLst>
          </p:cNvPr>
          <p:cNvSpPr>
            <a:spLocks noGrp="1"/>
          </p:cNvSpPr>
          <p:nvPr/>
        </p:nvSpPr>
        <p:spPr>
          <a:xfrm>
            <a:off x="8172450" y="30480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096DE9E-C067-4E71-93E7-11A0A3BBD46B}"/>
              </a:ext>
            </a:extLst>
          </p:cNvPr>
          <p:cNvSpPr>
            <a:spLocks noGrp="1"/>
          </p:cNvSpPr>
          <p:nvPr/>
        </p:nvSpPr>
        <p:spPr>
          <a:xfrm>
            <a:off x="8248650" y="322897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中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853B475-90AB-4FA8-9CA1-FC3F458D4013}"/>
              </a:ext>
            </a:extLst>
          </p:cNvPr>
          <p:cNvSpPr>
            <a:spLocks noGrp="1"/>
          </p:cNvSpPr>
          <p:nvPr/>
        </p:nvSpPr>
        <p:spPr>
          <a:xfrm>
            <a:off x="9601200" y="30480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96C8B3F-4740-4B97-A8F1-6A6E640E0BAA}"/>
              </a:ext>
            </a:extLst>
          </p:cNvPr>
          <p:cNvSpPr>
            <a:spLocks noGrp="1"/>
          </p:cNvSpPr>
          <p:nvPr/>
        </p:nvSpPr>
        <p:spPr>
          <a:xfrm>
            <a:off x="9677400" y="322897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强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A6EB498-02A8-4744-B4A6-2C97886CF662}"/>
              </a:ext>
            </a:extLst>
          </p:cNvPr>
          <p:cNvSpPr>
            <a:spLocks noGrp="1"/>
          </p:cNvSpPr>
          <p:nvPr/>
        </p:nvSpPr>
        <p:spPr>
          <a:xfrm>
            <a:off x="647700" y="3600450"/>
            <a:ext cx="1809750" cy="5524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7321BC5-FBF4-4817-B3B1-145399768254}"/>
              </a:ext>
            </a:extLst>
          </p:cNvPr>
          <p:cNvSpPr>
            <a:spLocks noGrp="1"/>
          </p:cNvSpPr>
          <p:nvPr/>
        </p:nvSpPr>
        <p:spPr>
          <a:xfrm>
            <a:off x="723900" y="37814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LLM-Enhanced DM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8B7DBD5-3CBB-4B33-BA1F-34284C3AE29F}"/>
              </a:ext>
            </a:extLst>
          </p:cNvPr>
          <p:cNvSpPr>
            <a:spLocks noGrp="1"/>
          </p:cNvSpPr>
          <p:nvPr/>
        </p:nvSpPr>
        <p:spPr>
          <a:xfrm>
            <a:off x="2457450" y="360045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25CFD28-3336-4D1A-92B1-8C4E923161E6}"/>
              </a:ext>
            </a:extLst>
          </p:cNvPr>
          <p:cNvSpPr>
            <a:spLocks noGrp="1"/>
          </p:cNvSpPr>
          <p:nvPr/>
        </p:nvSpPr>
        <p:spPr>
          <a:xfrm>
            <a:off x="2533650" y="378142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中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33B1836-7AFA-4A32-AA52-ED45416BF4CC}"/>
              </a:ext>
            </a:extLst>
          </p:cNvPr>
          <p:cNvSpPr>
            <a:spLocks noGrp="1"/>
          </p:cNvSpPr>
          <p:nvPr/>
        </p:nvSpPr>
        <p:spPr>
          <a:xfrm>
            <a:off x="3886200" y="360045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E35A98F-7092-47B4-ACAA-39F81BB3C3CC}"/>
              </a:ext>
            </a:extLst>
          </p:cNvPr>
          <p:cNvSpPr>
            <a:spLocks noGrp="1"/>
          </p:cNvSpPr>
          <p:nvPr/>
        </p:nvSpPr>
        <p:spPr>
          <a:xfrm>
            <a:off x="3962400" y="378142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强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0054D6F-E3C0-44DD-87BF-539085DA48CD}"/>
              </a:ext>
            </a:extLst>
          </p:cNvPr>
          <p:cNvSpPr>
            <a:spLocks noGrp="1"/>
          </p:cNvSpPr>
          <p:nvPr/>
        </p:nvSpPr>
        <p:spPr>
          <a:xfrm>
            <a:off x="5314950" y="360045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23836F4-3FF8-4376-893E-D797E4EC43FA}"/>
              </a:ext>
            </a:extLst>
          </p:cNvPr>
          <p:cNvSpPr>
            <a:spLocks noGrp="1"/>
          </p:cNvSpPr>
          <p:nvPr/>
        </p:nvSpPr>
        <p:spPr>
          <a:xfrm>
            <a:off x="5391150" y="378142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强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83A0255-807B-4AE7-B1D5-D3AAF3E5BA1E}"/>
              </a:ext>
            </a:extLst>
          </p:cNvPr>
          <p:cNvSpPr>
            <a:spLocks noGrp="1"/>
          </p:cNvSpPr>
          <p:nvPr/>
        </p:nvSpPr>
        <p:spPr>
          <a:xfrm>
            <a:off x="6743700" y="360045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F44ACF2F-6C73-4D00-B0A3-D6047E7393E0}"/>
              </a:ext>
            </a:extLst>
          </p:cNvPr>
          <p:cNvSpPr>
            <a:spLocks noGrp="1"/>
          </p:cNvSpPr>
          <p:nvPr/>
        </p:nvSpPr>
        <p:spPr>
          <a:xfrm>
            <a:off x="6819900" y="378142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强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F344CDB-3AB6-4246-8251-002C0D6383C4}"/>
              </a:ext>
            </a:extLst>
          </p:cNvPr>
          <p:cNvSpPr>
            <a:spLocks noGrp="1"/>
          </p:cNvSpPr>
          <p:nvPr/>
        </p:nvSpPr>
        <p:spPr>
          <a:xfrm>
            <a:off x="8172450" y="360045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AFFE2C6-E61D-46B9-A188-90105A7F6227}"/>
              </a:ext>
            </a:extLst>
          </p:cNvPr>
          <p:cNvSpPr>
            <a:spLocks noGrp="1"/>
          </p:cNvSpPr>
          <p:nvPr/>
        </p:nvSpPr>
        <p:spPr>
          <a:xfrm>
            <a:off x="8248650" y="378142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强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05C9C4C-0B82-4542-B389-547B29565FAB}"/>
              </a:ext>
            </a:extLst>
          </p:cNvPr>
          <p:cNvSpPr>
            <a:spLocks noGrp="1"/>
          </p:cNvSpPr>
          <p:nvPr/>
        </p:nvSpPr>
        <p:spPr>
          <a:xfrm>
            <a:off x="9601200" y="360045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8C89165-94BF-42DA-A720-DB92B04E771E}"/>
              </a:ext>
            </a:extLst>
          </p:cNvPr>
          <p:cNvSpPr>
            <a:spLocks noGrp="1"/>
          </p:cNvSpPr>
          <p:nvPr/>
        </p:nvSpPr>
        <p:spPr>
          <a:xfrm>
            <a:off x="9677400" y="378142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强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E9E6589-3CA0-4449-9D1A-F5EC0C9F928A}"/>
              </a:ext>
            </a:extLst>
          </p:cNvPr>
          <p:cNvSpPr>
            <a:spLocks noGrp="1"/>
          </p:cNvSpPr>
          <p:nvPr/>
        </p:nvSpPr>
        <p:spPr>
          <a:xfrm>
            <a:off x="647700" y="4152900"/>
            <a:ext cx="1809750" cy="5524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4804629-D645-41AE-AA2E-29275C085217}"/>
              </a:ext>
            </a:extLst>
          </p:cNvPr>
          <p:cNvSpPr>
            <a:spLocks noGrp="1"/>
          </p:cNvSpPr>
          <p:nvPr/>
        </p:nvSpPr>
        <p:spPr>
          <a:xfrm>
            <a:off x="723900" y="43338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Phoenix-VAD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D283958-44CD-4A8E-B4E5-7BB888C1DB2F}"/>
              </a:ext>
            </a:extLst>
          </p:cNvPr>
          <p:cNvSpPr>
            <a:spLocks noGrp="1"/>
          </p:cNvSpPr>
          <p:nvPr/>
        </p:nvSpPr>
        <p:spPr>
          <a:xfrm>
            <a:off x="2457450" y="41529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ECE0A923-4BA9-443A-ACB6-715201E0D447}"/>
              </a:ext>
            </a:extLst>
          </p:cNvPr>
          <p:cNvSpPr>
            <a:spLocks noGrp="1"/>
          </p:cNvSpPr>
          <p:nvPr/>
        </p:nvSpPr>
        <p:spPr>
          <a:xfrm>
            <a:off x="2533650" y="433387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弱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4FC24443-98A4-4300-B468-FAC4DA612EE9}"/>
              </a:ext>
            </a:extLst>
          </p:cNvPr>
          <p:cNvSpPr>
            <a:spLocks noGrp="1"/>
          </p:cNvSpPr>
          <p:nvPr/>
        </p:nvSpPr>
        <p:spPr>
          <a:xfrm>
            <a:off x="3886200" y="41529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5EA9037-607C-47AC-BF62-96338F86C929}"/>
              </a:ext>
            </a:extLst>
          </p:cNvPr>
          <p:cNvSpPr>
            <a:spLocks noGrp="1"/>
          </p:cNvSpPr>
          <p:nvPr/>
        </p:nvSpPr>
        <p:spPr>
          <a:xfrm>
            <a:off x="3962400" y="433387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强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3FB8CBF2-ECAC-4EA2-BBAF-AB91B0DCE5C9}"/>
              </a:ext>
            </a:extLst>
          </p:cNvPr>
          <p:cNvSpPr>
            <a:spLocks noGrp="1"/>
          </p:cNvSpPr>
          <p:nvPr/>
        </p:nvSpPr>
        <p:spPr>
          <a:xfrm>
            <a:off x="5314950" y="41529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3966034F-DE9C-4C79-A36B-75F971B64823}"/>
              </a:ext>
            </a:extLst>
          </p:cNvPr>
          <p:cNvSpPr>
            <a:spLocks noGrp="1"/>
          </p:cNvSpPr>
          <p:nvPr/>
        </p:nvSpPr>
        <p:spPr>
          <a:xfrm>
            <a:off x="5391150" y="433387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核心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8ABF18AD-D172-45BD-BDF7-5512FC5593AE}"/>
              </a:ext>
            </a:extLst>
          </p:cNvPr>
          <p:cNvSpPr>
            <a:spLocks noGrp="1"/>
          </p:cNvSpPr>
          <p:nvPr/>
        </p:nvSpPr>
        <p:spPr>
          <a:xfrm>
            <a:off x="6743700" y="41529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4B167C62-AB2B-4D4D-9C64-D830AD7DDD45}"/>
              </a:ext>
            </a:extLst>
          </p:cNvPr>
          <p:cNvSpPr>
            <a:spLocks noGrp="1"/>
          </p:cNvSpPr>
          <p:nvPr/>
        </p:nvSpPr>
        <p:spPr>
          <a:xfrm>
            <a:off x="6819900" y="433387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弱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F41EF303-297A-4844-A37C-D1E685ECFA58}"/>
              </a:ext>
            </a:extLst>
          </p:cNvPr>
          <p:cNvSpPr>
            <a:spLocks noGrp="1"/>
          </p:cNvSpPr>
          <p:nvPr/>
        </p:nvSpPr>
        <p:spPr>
          <a:xfrm>
            <a:off x="8172450" y="41529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2309C84-AFF0-474B-AFAE-EED73A3B884E}"/>
              </a:ext>
            </a:extLst>
          </p:cNvPr>
          <p:cNvSpPr>
            <a:spLocks noGrp="1"/>
          </p:cNvSpPr>
          <p:nvPr/>
        </p:nvSpPr>
        <p:spPr>
          <a:xfrm>
            <a:off x="8248650" y="433387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弱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3D3808C8-E1A8-4268-A6AE-FA4EDCC774E7}"/>
              </a:ext>
            </a:extLst>
          </p:cNvPr>
          <p:cNvSpPr>
            <a:spLocks noGrp="1"/>
          </p:cNvSpPr>
          <p:nvPr/>
        </p:nvSpPr>
        <p:spPr>
          <a:xfrm>
            <a:off x="9601200" y="41529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075CD762-121A-4A7E-BACF-9DD1520CEA23}"/>
              </a:ext>
            </a:extLst>
          </p:cNvPr>
          <p:cNvSpPr>
            <a:spLocks noGrp="1"/>
          </p:cNvSpPr>
          <p:nvPr/>
        </p:nvSpPr>
        <p:spPr>
          <a:xfrm>
            <a:off x="9677400" y="4333875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中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53BCE015-8741-4BB1-8BC6-40F458F84687}"/>
              </a:ext>
            </a:extLst>
          </p:cNvPr>
          <p:cNvSpPr>
            <a:spLocks noGrp="1"/>
          </p:cNvSpPr>
          <p:nvPr/>
        </p:nvSpPr>
        <p:spPr>
          <a:xfrm>
            <a:off x="704850" y="5753100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读法：Phoenix-VAD 专注语义端点；Easy Turn 提供状态分类；SoulX-Duplug 和 LLM-Enhanced DM 更强调可插拔管理模块。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AC795FBF-65CC-4D83-B711-084E66451F8E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15046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D5131672-F2F7-4FA4-8D2F-5CD691D7B2C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全双工语音交互论文对比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E101A3-1833-4313-AC9C-475755DF0D6B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当前项目进度可以按论文能力拆开看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6F457C-1F61-4B6D-BECC-57AD6BCCC611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D020B0-492B-46B9-ADC4-6E5A0672F100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2000250" cy="4191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33A595-4B7D-43AD-9924-E55B5DD70880}"/>
              </a:ext>
            </a:extLst>
          </p:cNvPr>
          <p:cNvSpPr>
            <a:spLocks noGrp="1"/>
          </p:cNvSpPr>
          <p:nvPr/>
        </p:nvSpPr>
        <p:spPr>
          <a:xfrm>
            <a:off x="781050" y="15811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能力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02E267-7C95-4319-95A0-38961FBFC2F3}"/>
              </a:ext>
            </a:extLst>
          </p:cNvPr>
          <p:cNvSpPr>
            <a:spLocks noGrp="1"/>
          </p:cNvSpPr>
          <p:nvPr/>
        </p:nvSpPr>
        <p:spPr>
          <a:xfrm>
            <a:off x="2686050" y="1466850"/>
            <a:ext cx="3143250" cy="4191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446BC2-8932-458D-8643-BABE150B3B5F}"/>
              </a:ext>
            </a:extLst>
          </p:cNvPr>
          <p:cNvSpPr>
            <a:spLocks noGrp="1"/>
          </p:cNvSpPr>
          <p:nvPr/>
        </p:nvSpPr>
        <p:spPr>
          <a:xfrm>
            <a:off x="2781300" y="15811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论文参照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1E2D4C-12FE-4ECE-8385-3D73975D49E9}"/>
              </a:ext>
            </a:extLst>
          </p:cNvPr>
          <p:cNvSpPr>
            <a:spLocks noGrp="1"/>
          </p:cNvSpPr>
          <p:nvPr/>
        </p:nvSpPr>
        <p:spPr>
          <a:xfrm>
            <a:off x="5829300" y="1466850"/>
            <a:ext cx="1238250" cy="4191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CF12A38-CE2F-4141-914D-583321FD4746}"/>
              </a:ext>
            </a:extLst>
          </p:cNvPr>
          <p:cNvSpPr>
            <a:spLocks noGrp="1"/>
          </p:cNvSpPr>
          <p:nvPr/>
        </p:nvSpPr>
        <p:spPr>
          <a:xfrm>
            <a:off x="5924550" y="158115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进度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2E5ABF4-DEAA-41B2-911B-0AE9F9DB4123}"/>
              </a:ext>
            </a:extLst>
          </p:cNvPr>
          <p:cNvSpPr>
            <a:spLocks noGrp="1"/>
          </p:cNvSpPr>
          <p:nvPr/>
        </p:nvSpPr>
        <p:spPr>
          <a:xfrm>
            <a:off x="7067550" y="1466850"/>
            <a:ext cx="4095750" cy="4191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135F1BE-FDD4-42ED-92E1-3B90B8078991}"/>
              </a:ext>
            </a:extLst>
          </p:cNvPr>
          <p:cNvSpPr>
            <a:spLocks noGrp="1"/>
          </p:cNvSpPr>
          <p:nvPr/>
        </p:nvSpPr>
        <p:spPr>
          <a:xfrm>
            <a:off x="7162800" y="158115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下一步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623BA3-9DBE-4BA1-B5D5-C6348D139C5E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2000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D81E0FE-5552-4D9A-8C4F-3FAC88345696}"/>
              </a:ext>
            </a:extLst>
          </p:cNvPr>
          <p:cNvSpPr>
            <a:spLocks noGrp="1"/>
          </p:cNvSpPr>
          <p:nvPr/>
        </p:nvSpPr>
        <p:spPr>
          <a:xfrm>
            <a:off x="781050" y="20574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内容能力评测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C62A7A0-AC83-451D-AF15-7FC36028F8F4}"/>
              </a:ext>
            </a:extLst>
          </p:cNvPr>
          <p:cNvSpPr>
            <a:spLocks noGrp="1"/>
          </p:cNvSpPr>
          <p:nvPr/>
        </p:nvSpPr>
        <p:spPr>
          <a:xfrm>
            <a:off x="2686050" y="1885950"/>
            <a:ext cx="3143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FBF5B52-EAF7-4F12-ABAA-F1D3F7A74775}"/>
              </a:ext>
            </a:extLst>
          </p:cNvPr>
          <p:cNvSpPr>
            <a:spLocks noGrp="1"/>
          </p:cNvSpPr>
          <p:nvPr/>
        </p:nvSpPr>
        <p:spPr>
          <a:xfrm>
            <a:off x="2781300" y="20574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BigBench / VoiceBench / OpenAudioBench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1C28475-7651-463E-BC0B-5B9FE3136785}"/>
              </a:ext>
            </a:extLst>
          </p:cNvPr>
          <p:cNvSpPr>
            <a:spLocks noGrp="1"/>
          </p:cNvSpPr>
          <p:nvPr/>
        </p:nvSpPr>
        <p:spPr>
          <a:xfrm>
            <a:off x="5829300" y="1885950"/>
            <a:ext cx="1238250" cy="647700"/>
          </a:xfrm>
          <a:prstGeom prst="rect">
            <a:avLst/>
          </a:prstGeom>
          <a:solidFill>
            <a:srgbClr val="FFF3ED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D74749-1AEC-4F11-8F00-C5B66E6B4129}"/>
              </a:ext>
            </a:extLst>
          </p:cNvPr>
          <p:cNvSpPr>
            <a:spLocks noGrp="1"/>
          </p:cNvSpPr>
          <p:nvPr/>
        </p:nvSpPr>
        <p:spPr>
          <a:xfrm>
            <a:off x="5924550" y="205740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E7D32"/>
                </a:solidFill>
              </a:defRPr>
            </a:pPr>
            <a:r>
              <a:rPr sz="1275" b="1">
                <a:solidFill>
                  <a:srgbClr val="2E7D32"/>
                </a:solidFill>
              </a:rPr>
              <a:t>已完成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2A49E0-228D-4EB5-B7B0-C296CE2C3594}"/>
              </a:ext>
            </a:extLst>
          </p:cNvPr>
          <p:cNvSpPr>
            <a:spLocks noGrp="1"/>
          </p:cNvSpPr>
          <p:nvPr/>
        </p:nvSpPr>
        <p:spPr>
          <a:xfrm>
            <a:off x="7067550" y="1885950"/>
            <a:ext cx="4095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2CA9357-07DC-4345-88CB-67A40BBDC7EB}"/>
              </a:ext>
            </a:extLst>
          </p:cNvPr>
          <p:cNvSpPr>
            <a:spLocks noGrp="1"/>
          </p:cNvSpPr>
          <p:nvPr/>
        </p:nvSpPr>
        <p:spPr>
          <a:xfrm>
            <a:off x="7162800" y="20574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继续作为准确率回归测试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A193A2C-6067-4507-AF1C-170F66DB5020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2000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BFCCEA0-6AFB-438E-9369-542E245BDAD1}"/>
              </a:ext>
            </a:extLst>
          </p:cNvPr>
          <p:cNvSpPr>
            <a:spLocks noGrp="1"/>
          </p:cNvSpPr>
          <p:nvPr/>
        </p:nvSpPr>
        <p:spPr>
          <a:xfrm>
            <a:off x="781050" y="27051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全双工评测入口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9128DB-B4F8-436F-866E-5A4D815C440C}"/>
              </a:ext>
            </a:extLst>
          </p:cNvPr>
          <p:cNvSpPr>
            <a:spLocks noGrp="1"/>
          </p:cNvSpPr>
          <p:nvPr/>
        </p:nvSpPr>
        <p:spPr>
          <a:xfrm>
            <a:off x="2686050" y="2533650"/>
            <a:ext cx="3143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8F1F21-4A02-4D84-9871-0BCD179C9DE4}"/>
              </a:ext>
            </a:extLst>
          </p:cNvPr>
          <p:cNvSpPr>
            <a:spLocks noGrp="1"/>
          </p:cNvSpPr>
          <p:nvPr/>
        </p:nvSpPr>
        <p:spPr>
          <a:xfrm>
            <a:off x="2781300" y="27051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Full-Duplex-Bench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9AF231D-437C-4141-AAAB-2392667E28E7}"/>
              </a:ext>
            </a:extLst>
          </p:cNvPr>
          <p:cNvSpPr>
            <a:spLocks noGrp="1"/>
          </p:cNvSpPr>
          <p:nvPr/>
        </p:nvSpPr>
        <p:spPr>
          <a:xfrm>
            <a:off x="5829300" y="2533650"/>
            <a:ext cx="1238250" cy="647700"/>
          </a:xfrm>
          <a:prstGeom prst="rect">
            <a:avLst/>
          </a:prstGeom>
          <a:solidFill>
            <a:srgbClr val="FFF3ED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9CE1DEE-CD2C-45C8-B243-791244D96BA9}"/>
              </a:ext>
            </a:extLst>
          </p:cNvPr>
          <p:cNvSpPr>
            <a:spLocks noGrp="1"/>
          </p:cNvSpPr>
          <p:nvPr/>
        </p:nvSpPr>
        <p:spPr>
          <a:xfrm>
            <a:off x="5924550" y="270510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B7791F"/>
                </a:solidFill>
              </a:defRPr>
            </a:pPr>
            <a:r>
              <a:rPr sz="1275" b="1">
                <a:solidFill>
                  <a:srgbClr val="B7791F"/>
                </a:solidFill>
              </a:rPr>
              <a:t>进行中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BF19863-C664-46E3-A994-1F709501C954}"/>
              </a:ext>
            </a:extLst>
          </p:cNvPr>
          <p:cNvSpPr>
            <a:spLocks noGrp="1"/>
          </p:cNvSpPr>
          <p:nvPr/>
        </p:nvSpPr>
        <p:spPr>
          <a:xfrm>
            <a:off x="7067550" y="2533650"/>
            <a:ext cx="4095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5B49565-4B0D-4C23-8260-1E5E00D3E2FE}"/>
              </a:ext>
            </a:extLst>
          </p:cNvPr>
          <p:cNvSpPr>
            <a:spLocks noGrp="1"/>
          </p:cNvSpPr>
          <p:nvPr/>
        </p:nvSpPr>
        <p:spPr>
          <a:xfrm>
            <a:off x="7162800" y="27051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补 early response、误打断、endpoint delay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0590729-BA0E-4065-BEC4-1D139FEB66C0}"/>
              </a:ext>
            </a:extLst>
          </p:cNvPr>
          <p:cNvSpPr>
            <a:spLocks noGrp="1"/>
          </p:cNvSpPr>
          <p:nvPr/>
        </p:nvSpPr>
        <p:spPr>
          <a:xfrm>
            <a:off x="685800" y="3181350"/>
            <a:ext cx="2000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F989ABE-6376-40DC-AA34-DB00B492BB10}"/>
              </a:ext>
            </a:extLst>
          </p:cNvPr>
          <p:cNvSpPr>
            <a:spLocks noGrp="1"/>
          </p:cNvSpPr>
          <p:nvPr/>
        </p:nvSpPr>
        <p:spPr>
          <a:xfrm>
            <a:off x="781050" y="33528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语义轮次状态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0EF03A3-2DFE-435C-9F8C-16B63FB6638B}"/>
              </a:ext>
            </a:extLst>
          </p:cNvPr>
          <p:cNvSpPr>
            <a:spLocks noGrp="1"/>
          </p:cNvSpPr>
          <p:nvPr/>
        </p:nvSpPr>
        <p:spPr>
          <a:xfrm>
            <a:off x="2686050" y="3181350"/>
            <a:ext cx="3143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B0C9D76-1064-42D5-8D3C-7226E0C182E4}"/>
              </a:ext>
            </a:extLst>
          </p:cNvPr>
          <p:cNvSpPr>
            <a:spLocks noGrp="1"/>
          </p:cNvSpPr>
          <p:nvPr/>
        </p:nvSpPr>
        <p:spPr>
          <a:xfrm>
            <a:off x="2781300" y="33528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Easy Turn 四状态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4F4AA54-036E-4509-96E0-AD7BED1B34AA}"/>
              </a:ext>
            </a:extLst>
          </p:cNvPr>
          <p:cNvSpPr>
            <a:spLocks noGrp="1"/>
          </p:cNvSpPr>
          <p:nvPr/>
        </p:nvSpPr>
        <p:spPr>
          <a:xfrm>
            <a:off x="5829300" y="3181350"/>
            <a:ext cx="1238250" cy="647700"/>
          </a:xfrm>
          <a:prstGeom prst="rect">
            <a:avLst/>
          </a:prstGeom>
          <a:solidFill>
            <a:srgbClr val="FFF3ED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B1ECF41-1B6C-4794-AB50-834B03FBB09A}"/>
              </a:ext>
            </a:extLst>
          </p:cNvPr>
          <p:cNvSpPr>
            <a:spLocks noGrp="1"/>
          </p:cNvSpPr>
          <p:nvPr/>
        </p:nvSpPr>
        <p:spPr>
          <a:xfrm>
            <a:off x="5924550" y="335280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未开始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AEA62CC-6E7E-4292-A0DF-8976FFC25189}"/>
              </a:ext>
            </a:extLst>
          </p:cNvPr>
          <p:cNvSpPr>
            <a:spLocks noGrp="1"/>
          </p:cNvSpPr>
          <p:nvPr/>
        </p:nvSpPr>
        <p:spPr>
          <a:xfrm>
            <a:off x="7067550" y="3181350"/>
            <a:ext cx="4095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0CAD0C6-A456-45A1-9408-D8D0E9F285F6}"/>
              </a:ext>
            </a:extLst>
          </p:cNvPr>
          <p:cNvSpPr>
            <a:spLocks noGrp="1"/>
          </p:cNvSpPr>
          <p:nvPr/>
        </p:nvSpPr>
        <p:spPr>
          <a:xfrm>
            <a:off x="7162800" y="33528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先做规则版 complete/incomplete/backchannel/wait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10AAC66-CDB4-48AE-A061-251C5C0216CC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2000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1A4C672-CDC2-4ED2-A01F-B465B1A3CE36}"/>
              </a:ext>
            </a:extLst>
          </p:cNvPr>
          <p:cNvSpPr>
            <a:spLocks noGrp="1"/>
          </p:cNvSpPr>
          <p:nvPr/>
        </p:nvSpPr>
        <p:spPr>
          <a:xfrm>
            <a:off x="781050" y="40005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语义端点判断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787BB88-30CF-4433-8C0B-68BE691D4855}"/>
              </a:ext>
            </a:extLst>
          </p:cNvPr>
          <p:cNvSpPr>
            <a:spLocks noGrp="1"/>
          </p:cNvSpPr>
          <p:nvPr/>
        </p:nvSpPr>
        <p:spPr>
          <a:xfrm>
            <a:off x="2686050" y="3829050"/>
            <a:ext cx="3143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EFFDB90-9A7A-4C43-A5B0-E22609F62FC5}"/>
              </a:ext>
            </a:extLst>
          </p:cNvPr>
          <p:cNvSpPr>
            <a:spLocks noGrp="1"/>
          </p:cNvSpPr>
          <p:nvPr/>
        </p:nvSpPr>
        <p:spPr>
          <a:xfrm>
            <a:off x="2781300" y="40005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Phoenix-VAD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A1116BD-758A-4415-B0ED-7A63DD0D945D}"/>
              </a:ext>
            </a:extLst>
          </p:cNvPr>
          <p:cNvSpPr>
            <a:spLocks noGrp="1"/>
          </p:cNvSpPr>
          <p:nvPr/>
        </p:nvSpPr>
        <p:spPr>
          <a:xfrm>
            <a:off x="5829300" y="3829050"/>
            <a:ext cx="1238250" cy="647700"/>
          </a:xfrm>
          <a:prstGeom prst="rect">
            <a:avLst/>
          </a:prstGeom>
          <a:solidFill>
            <a:srgbClr val="FFF3ED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60CC313-8C99-402D-930B-C6787C74C669}"/>
              </a:ext>
            </a:extLst>
          </p:cNvPr>
          <p:cNvSpPr>
            <a:spLocks noGrp="1"/>
          </p:cNvSpPr>
          <p:nvPr/>
        </p:nvSpPr>
        <p:spPr>
          <a:xfrm>
            <a:off x="5924550" y="400050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未开始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2AB36B1-0FB2-4C71-BFAF-58976CC57504}"/>
              </a:ext>
            </a:extLst>
          </p:cNvPr>
          <p:cNvSpPr>
            <a:spLocks noGrp="1"/>
          </p:cNvSpPr>
          <p:nvPr/>
        </p:nvSpPr>
        <p:spPr>
          <a:xfrm>
            <a:off x="7067550" y="3829050"/>
            <a:ext cx="4095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70CF561-BD7C-49C0-9F54-F1F0366B9864}"/>
              </a:ext>
            </a:extLst>
          </p:cNvPr>
          <p:cNvSpPr>
            <a:spLocks noGrp="1"/>
          </p:cNvSpPr>
          <p:nvPr/>
        </p:nvSpPr>
        <p:spPr>
          <a:xfrm>
            <a:off x="7162800" y="40005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先用 partial ASR + 静音阈值做原型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7ED1812-E312-458C-BEF2-6D7CF364135E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2000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98B5CF6-3D6E-4DAC-91BF-72E92B9FDC38}"/>
              </a:ext>
            </a:extLst>
          </p:cNvPr>
          <p:cNvSpPr>
            <a:spLocks noGrp="1"/>
          </p:cNvSpPr>
          <p:nvPr/>
        </p:nvSpPr>
        <p:spPr>
          <a:xfrm>
            <a:off x="781050" y="46482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模块化管理器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8A54D91-A829-43A8-89EF-7BD022A02F19}"/>
              </a:ext>
            </a:extLst>
          </p:cNvPr>
          <p:cNvSpPr>
            <a:spLocks noGrp="1"/>
          </p:cNvSpPr>
          <p:nvPr/>
        </p:nvSpPr>
        <p:spPr>
          <a:xfrm>
            <a:off x="2686050" y="4476750"/>
            <a:ext cx="3143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B5ADCCC-8B86-47B8-B57F-DA0C9BABE5B5}"/>
              </a:ext>
            </a:extLst>
          </p:cNvPr>
          <p:cNvSpPr>
            <a:spLocks noGrp="1"/>
          </p:cNvSpPr>
          <p:nvPr/>
        </p:nvSpPr>
        <p:spPr>
          <a:xfrm>
            <a:off x="2781300" y="46482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SoulX-Duplug / LLM-Enhanced DM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81FC656-BCC6-4AEA-A19A-CC5AA2515AFF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1238250" cy="647700"/>
          </a:xfrm>
          <a:prstGeom prst="rect">
            <a:avLst/>
          </a:prstGeom>
          <a:solidFill>
            <a:srgbClr val="FFF3ED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EE26C3F-DE30-44EB-A0CB-A0A09E33FBF8}"/>
              </a:ext>
            </a:extLst>
          </p:cNvPr>
          <p:cNvSpPr>
            <a:spLocks noGrp="1"/>
          </p:cNvSpPr>
          <p:nvPr/>
        </p:nvSpPr>
        <p:spPr>
          <a:xfrm>
            <a:off x="5924550" y="464820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未开始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162D2A5-3724-4350-B424-FB9DDEE48478}"/>
              </a:ext>
            </a:extLst>
          </p:cNvPr>
          <p:cNvSpPr>
            <a:spLocks noGrp="1"/>
          </p:cNvSpPr>
          <p:nvPr/>
        </p:nvSpPr>
        <p:spPr>
          <a:xfrm>
            <a:off x="7067550" y="4476750"/>
            <a:ext cx="4095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849704E-8B49-4F3C-945F-F0A4863ADE59}"/>
              </a:ext>
            </a:extLst>
          </p:cNvPr>
          <p:cNvSpPr>
            <a:spLocks noGrp="1"/>
          </p:cNvSpPr>
          <p:nvPr/>
        </p:nvSpPr>
        <p:spPr>
          <a:xfrm>
            <a:off x="7162800" y="46482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把轮次判断从主 Agent 拆出来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302A9FB-5145-4E2C-9D0B-3B720C5DFD0B}"/>
              </a:ext>
            </a:extLst>
          </p:cNvPr>
          <p:cNvSpPr>
            <a:spLocks noGrp="1"/>
          </p:cNvSpPr>
          <p:nvPr/>
        </p:nvSpPr>
        <p:spPr>
          <a:xfrm>
            <a:off x="704850" y="565785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核心差距：内容评测已经比较完整，但语义轮次管理还没有独立模块。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440E98D-F5BD-4562-81B1-8EBFC6851106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5113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714B74F0-8757-462C-89C8-C77643FE124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全双工语音交互论文对比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F7CB636-420A-43EF-9631-FDE2A03E61D6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结论：先把“听说停”变成可评测模块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81184F-14E8-4FBD-AFE0-30B74C020E38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F6F546-7E8F-49F6-937A-A941CED7B5D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五篇论文的共识不是让主模型更会聊天，而是把轮次判断从主模型里拆出来。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4661A8-4A83-4211-B85E-BDCD89F36E29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685800" cy="685800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824888-7F50-4CC9-9810-71815CDDDDB0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685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B600505-749B-4F33-BCCB-BD9A07792A77}"/>
              </a:ext>
            </a:extLst>
          </p:cNvPr>
          <p:cNvSpPr>
            <a:spLocks noGrp="1"/>
          </p:cNvSpPr>
          <p:nvPr/>
        </p:nvSpPr>
        <p:spPr>
          <a:xfrm>
            <a:off x="1809750" y="259080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跑 Full-Duplex-Bench 基线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E8F0C2-D4F5-4BC5-9F6E-02AE730ADC07}"/>
              </a:ext>
            </a:extLst>
          </p:cNvPr>
          <p:cNvSpPr>
            <a:spLocks noGrp="1"/>
          </p:cNvSpPr>
          <p:nvPr/>
        </p:nvSpPr>
        <p:spPr>
          <a:xfrm>
            <a:off x="1809750" y="29718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明确提前响应、误打断、打断延迟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668E3D-FB47-4EF5-81DC-21DCACF0DF6A}"/>
              </a:ext>
            </a:extLst>
          </p:cNvPr>
          <p:cNvSpPr>
            <a:spLocks noGrp="1"/>
          </p:cNvSpPr>
          <p:nvPr/>
        </p:nvSpPr>
        <p:spPr>
          <a:xfrm>
            <a:off x="857250" y="3571875"/>
            <a:ext cx="685800" cy="6858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426347-BF71-4612-80A1-A7878F3758C1}"/>
              </a:ext>
            </a:extLst>
          </p:cNvPr>
          <p:cNvSpPr>
            <a:spLocks noGrp="1"/>
          </p:cNvSpPr>
          <p:nvPr/>
        </p:nvSpPr>
        <p:spPr>
          <a:xfrm>
            <a:off x="857250" y="3724275"/>
            <a:ext cx="685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9922E0-FA03-40EC-B11C-B564DC9639AF}"/>
              </a:ext>
            </a:extLst>
          </p:cNvPr>
          <p:cNvSpPr>
            <a:spLocks noGrp="1"/>
          </p:cNvSpPr>
          <p:nvPr/>
        </p:nvSpPr>
        <p:spPr>
          <a:xfrm>
            <a:off x="1809750" y="3590925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补语义轮次状态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653966-9350-45E3-9DD5-5DC41AB231D9}"/>
              </a:ext>
            </a:extLst>
          </p:cNvPr>
          <p:cNvSpPr>
            <a:spLocks noGrp="1"/>
          </p:cNvSpPr>
          <p:nvPr/>
        </p:nvSpPr>
        <p:spPr>
          <a:xfrm>
            <a:off x="1809750" y="3971925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complete / incomplete / backchannel / wait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96C9F4-073C-45EA-A917-3180BFE91611}"/>
              </a:ext>
            </a:extLst>
          </p:cNvPr>
          <p:cNvSpPr>
            <a:spLocks noGrp="1"/>
          </p:cNvSpPr>
          <p:nvPr/>
        </p:nvSpPr>
        <p:spPr>
          <a:xfrm>
            <a:off x="857250" y="4572000"/>
            <a:ext cx="685800" cy="6858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901DB22-880B-45E9-9FA7-CC93E2C7BEC2}"/>
              </a:ext>
            </a:extLst>
          </p:cNvPr>
          <p:cNvSpPr>
            <a:spLocks noGrp="1"/>
          </p:cNvSpPr>
          <p:nvPr/>
        </p:nvSpPr>
        <p:spPr>
          <a:xfrm>
            <a:off x="857250" y="4724400"/>
            <a:ext cx="685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5375E1A-2BB5-4B0A-9C03-993063EDFCD1}"/>
              </a:ext>
            </a:extLst>
          </p:cNvPr>
          <p:cNvSpPr>
            <a:spLocks noGrp="1"/>
          </p:cNvSpPr>
          <p:nvPr/>
        </p:nvSpPr>
        <p:spPr>
          <a:xfrm>
            <a:off x="1809750" y="45910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做规则版管理器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9D0AA8E-277E-4E1E-9889-FA80E17DA2D0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先跑通日志和评测，再考虑 LLM/小模型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879A4BF-7CFA-4255-B6D6-C0CF46E391AE}"/>
              </a:ext>
            </a:extLst>
          </p:cNvPr>
          <p:cNvSpPr>
            <a:spLocks noGrp="1"/>
          </p:cNvSpPr>
          <p:nvPr/>
        </p:nvSpPr>
        <p:spPr>
          <a:xfrm>
            <a:off x="685800" y="6019800"/>
            <a:ext cx="1000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最终目标：让健康管理助手知道什么时候该听、什么时候该说、什么时候该停。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98D4E9-F8BF-4273-A124-C50DAF505794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82003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</Words>
  <Application>Microsoft Office PowerPoint</Application>
  <DocSecurity>0</DocSecurity>
  <PresentationFormat>宽屏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稳 陈</cp:lastModifiedBy>
  <cp:revision>1</cp:revision>
  <dcterms:created xsi:type="dcterms:W3CDTF">2026-07-03T02:48:45Z</dcterms:created>
  <dcterms:modified xsi:type="dcterms:W3CDTF">2026-07-06T01:41:31Z</dcterms:modified>
</cp:coreProperties>
</file>
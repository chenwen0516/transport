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Microsoft YaHei" panose="020B0503020204020204" pitchFamily="34" charset="-122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6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55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643188" y="1907381"/>
            <a:ext cx="3857625" cy="28575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语音打断效果与轮次检测技术方案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43313" y="2364581"/>
            <a:ext cx="1857375" cy="2000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全双工语音交互核心技术实现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43337" y="3136106"/>
            <a:ext cx="342900" cy="342900"/>
          </a:xfrm>
          <a:prstGeom prst="ellipse">
            <a:avLst/>
          </a:prstGeom>
          <a:solidFill>
            <a:srgbClr val="C7020E">
              <a:alpha val="10000"/>
            </a:srgbClr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208" y="3253978"/>
            <a:ext cx="107156" cy="1071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1962" y="3150394"/>
            <a:ext cx="102870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 err="1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</a:t>
            </a:r>
            <a:r>
              <a:rPr lang="zh-CN" alt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371962" y="3293269"/>
            <a:ext cx="10287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57862" y="3136106"/>
            <a:ext cx="342900" cy="342900"/>
          </a:xfrm>
          <a:prstGeom prst="ellipse">
            <a:avLst/>
          </a:prstGeom>
          <a:solidFill>
            <a:srgbClr val="C7020E">
              <a:alpha val="10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018" y="3243262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6375" y="3150394"/>
            <a:ext cx="91440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286375" y="3293269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4 月 8 日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17" name="Text 12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页 / 共 5 页</a:t>
            </a:r>
            <a:endParaRPr lang="en-US" sz="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系统架构：整体技术架构与组件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57250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EF2F2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2900" y="985838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71563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4680" y="985838"/>
            <a:ext cx="14287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响应输出层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4680" y="1157288"/>
            <a:ext cx="14287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音频生成 + 字幕输出 + 状态回调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7529010" y="1071563"/>
            <a:ext cx="12715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response.output_audio.delta</a:t>
            </a:r>
            <a:endParaRPr lang="en-US" sz="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1500188"/>
            <a:ext cx="85725" cy="8572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14313" y="1685925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2900" y="1814513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900238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113" y="1814513"/>
            <a:ext cx="162163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42113" y="1985963"/>
            <a:ext cx="16216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打断检测器 + 轮次划分器 + ASR 转写引擎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6208365" y="1900238"/>
            <a:ext cx="2593181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speech_started / speech_ended / transcription.completed</a:t>
            </a:r>
            <a:endParaRPr lang="en-US" sz="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2328863"/>
            <a:ext cx="85725" cy="8572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14313" y="2514600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342900" y="2643188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2743200"/>
            <a:ext cx="85725" cy="857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1555" y="2643188"/>
            <a:ext cx="218598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VAD 检测层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741555" y="2814638"/>
            <a:ext cx="2185988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语音活动检测 (threshold: 0.5, silence_duration: 500ms)</a:t>
            </a:r>
            <a:endParaRPr lang="en-US" sz="600" dirty="0"/>
          </a:p>
        </p:txBody>
      </p:sp>
      <p:sp>
        <p:nvSpPr>
          <p:cNvPr id="26" name="Text 18"/>
          <p:cNvSpPr/>
          <p:nvPr/>
        </p:nvSpPr>
        <p:spPr>
          <a:xfrm>
            <a:off x="8329668" y="2728913"/>
            <a:ext cx="4714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 Module</a:t>
            </a:r>
            <a:endParaRPr lang="en-US" sz="6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8" y="3157537"/>
            <a:ext cx="85725" cy="8572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214313" y="3343275"/>
            <a:ext cx="8715375" cy="542925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 w="12383">
            <a:solidFill>
              <a:srgbClr val="C7020E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342900" y="3471863"/>
            <a:ext cx="285750" cy="285750"/>
          </a:xfrm>
          <a:prstGeom prst="roundRect">
            <a:avLst>
              <a:gd name="adj" fmla="val 8000"/>
            </a:avLst>
          </a:prstGeom>
          <a:solidFill>
            <a:srgbClr val="C7020E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3557588"/>
            <a:ext cx="114300" cy="1143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2113" y="3471863"/>
            <a:ext cx="192881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音频输入层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742113" y="3643313"/>
            <a:ext cx="1928813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实时音频流 (PCM16/24, 16kHz 采样)</a:t>
            </a:r>
            <a:endParaRPr lang="en-US" sz="600" dirty="0"/>
          </a:p>
        </p:txBody>
      </p:sp>
      <p:sp>
        <p:nvSpPr>
          <p:cNvPr id="33" name="Text 23"/>
          <p:cNvSpPr/>
          <p:nvPr/>
        </p:nvSpPr>
        <p:spPr>
          <a:xfrm>
            <a:off x="8093980" y="3557588"/>
            <a:ext cx="707231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WebSocket Input</a:t>
            </a:r>
            <a:endParaRPr lang="en-US" sz="600" dirty="0"/>
          </a:p>
        </p:txBody>
      </p:sp>
      <p:sp>
        <p:nvSpPr>
          <p:cNvPr id="34" name="Shape 24"/>
          <p:cNvSpPr/>
          <p:nvPr/>
        </p:nvSpPr>
        <p:spPr>
          <a:xfrm>
            <a:off x="214313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05" y="4171950"/>
            <a:ext cx="85725" cy="857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44698" y="4143375"/>
            <a:ext cx="10802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test_interruption.py</a:t>
            </a:r>
            <a:endParaRPr lang="en-US" sz="700" dirty="0"/>
          </a:p>
        </p:txBody>
      </p:sp>
      <p:sp>
        <p:nvSpPr>
          <p:cNvPr id="37" name="Text 26"/>
          <p:cNvSpPr/>
          <p:nvPr/>
        </p:nvSpPr>
        <p:spPr>
          <a:xfrm>
            <a:off x="328612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打断效果测试器，验证 TTS 播报期间的用户语音插入</a:t>
            </a:r>
            <a:endParaRPr lang="en-US" sz="600" dirty="0"/>
          </a:p>
        </p:txBody>
      </p:sp>
      <p:sp>
        <p:nvSpPr>
          <p:cNvPr id="38" name="Shape 27"/>
          <p:cNvSpPr/>
          <p:nvPr/>
        </p:nvSpPr>
        <p:spPr>
          <a:xfrm>
            <a:off x="3157538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730" y="4171950"/>
            <a:ext cx="85725" cy="8572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387923" y="4143375"/>
            <a:ext cx="12104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test_turn_detection.py</a:t>
            </a:r>
            <a:endParaRPr lang="en-US" sz="700" dirty="0"/>
          </a:p>
        </p:txBody>
      </p:sp>
      <p:sp>
        <p:nvSpPr>
          <p:cNvPr id="41" name="Text 29"/>
          <p:cNvSpPr/>
          <p:nvPr/>
        </p:nvSpPr>
        <p:spPr>
          <a:xfrm>
            <a:off x="3271838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轮次检测测试器，验证语音开始/结束判定</a:t>
            </a:r>
            <a:endParaRPr lang="en-US" sz="600" dirty="0"/>
          </a:p>
        </p:txBody>
      </p:sp>
      <p:sp>
        <p:nvSpPr>
          <p:cNvPr id="42" name="Shape 30"/>
          <p:cNvSpPr/>
          <p:nvPr/>
        </p:nvSpPr>
        <p:spPr>
          <a:xfrm>
            <a:off x="6100763" y="4057650"/>
            <a:ext cx="2828925" cy="4572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/>
        </p:spPr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277" y="4175522"/>
            <a:ext cx="78581" cy="78581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6318647" y="4143375"/>
            <a:ext cx="1253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generate_test_audio.py</a:t>
            </a:r>
            <a:endParaRPr lang="en-US" sz="700" dirty="0"/>
          </a:p>
        </p:txBody>
      </p:sp>
      <p:sp>
        <p:nvSpPr>
          <p:cNvPr id="45" name="Text 32"/>
          <p:cNvSpPr/>
          <p:nvPr/>
        </p:nvSpPr>
        <p:spPr>
          <a:xfrm>
            <a:off x="6215063" y="4314825"/>
            <a:ext cx="26289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测试音频生成工具，生成边界场景音频样本</a:t>
            </a:r>
            <a:endParaRPr lang="en-US" sz="600" dirty="0"/>
          </a:p>
        </p:txBody>
      </p:sp>
      <p:sp>
        <p:nvSpPr>
          <p:cNvPr id="46" name="Shape 33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47" name="Text 34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48" name="Text 35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 / 共 5 页</a:t>
            </a:r>
            <a:endParaRPr lang="en-US" sz="6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4313" y="4057650"/>
            <a:ext cx="2828925" cy="457200"/>
          </a:xfrm>
          <a:prstGeom prst="rect">
            <a:avLst/>
          </a:prstGeom>
        </p:spPr>
      </p:pic>
      <p:pic>
        <p:nvPicPr>
          <p:cNvPr id="5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57538" y="4057650"/>
            <a:ext cx="2828925" cy="457200"/>
          </a:xfrm>
          <a:prstGeom prst="rect">
            <a:avLst/>
          </a:prstGeom>
        </p:spPr>
      </p:pic>
      <p:pic>
        <p:nvPicPr>
          <p:cNvPr id="5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00763" y="4057650"/>
            <a:ext cx="2828925" cy="457200"/>
          </a:xfrm>
          <a:prstGeom prst="rect">
            <a:avLst/>
          </a:prstGeom>
        </p:spPr>
      </p:pic>
      <p:pic>
        <p:nvPicPr>
          <p:cNvPr id="5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打断效果：打断检测机制与测试用例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00100"/>
            <a:ext cx="4271963" cy="1428750"/>
          </a:xfrm>
          <a:prstGeom prst="roundRect">
            <a:avLst>
              <a:gd name="adj" fmla="val 2560"/>
            </a:avLst>
          </a:prstGeom>
          <a:solidFill>
            <a:srgbClr val="F9FAF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" y="950119"/>
            <a:ext cx="100012" cy="100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5775" y="921544"/>
            <a:ext cx="7200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打断检测机制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185863"/>
            <a:ext cx="100012" cy="100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775" y="1171575"/>
            <a:ext cx="8365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TTS 播报期间 (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1283029" y="1200150"/>
            <a:ext cx="1328738" cy="100012"/>
          </a:xfrm>
          <a:prstGeom prst="roundRect">
            <a:avLst>
              <a:gd name="adj" fmla="val 65306"/>
            </a:avLst>
          </a:prstGeom>
          <a:solidFill>
            <a:srgbClr val="E5E7EB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response.output_audio.delta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2612268" y="1171575"/>
            <a:ext cx="696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监听用户语音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385888"/>
            <a:ext cx="100012" cy="100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775" y="1371600"/>
            <a:ext cx="346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814555" y="1400175"/>
            <a:ext cx="1614488" cy="100012"/>
          </a:xfrm>
          <a:prstGeom prst="roundRect">
            <a:avLst>
              <a:gd name="adj" fmla="val 65306"/>
            </a:avLst>
          </a:prstGeom>
          <a:solidFill>
            <a:srgbClr val="E5E7EB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input_audio_buffer.speech_started</a:t>
            </a:r>
            <a:endParaRPr lang="en-US" sz="600" dirty="0"/>
          </a:p>
        </p:txBody>
      </p:sp>
      <p:sp>
        <p:nvSpPr>
          <p:cNvPr id="17" name="Text 11"/>
          <p:cNvSpPr/>
          <p:nvPr/>
        </p:nvSpPr>
        <p:spPr>
          <a:xfrm>
            <a:off x="2428094" y="1371600"/>
            <a:ext cx="766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事件时触发打断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1585913"/>
            <a:ext cx="100012" cy="1000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6333" y="1571625"/>
            <a:ext cx="2386013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打断延迟 = speech_started 时间戳 - TTS 开始时间戳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328613" y="1828800"/>
            <a:ext cx="4043363" cy="285750"/>
          </a:xfrm>
          <a:prstGeom prst="roundRect">
            <a:avLst>
              <a:gd name="adj" fmla="val 8000"/>
            </a:avLst>
          </a:prstGeom>
          <a:solidFill>
            <a:srgbClr val="1F2937"/>
          </a:solidFill>
          <a:ln/>
        </p:spPr>
        <p:txBody>
          <a:bodyPr wrap="none" lIns="48578" tIns="48578" rIns="48578" bIns="48578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python test_interruption.py --token sk-health-xxx --all </a:t>
            </a:r>
            <a:endParaRPr lang="en-US" sz="600" dirty="0"/>
          </a:p>
        </p:txBody>
      </p:sp>
      <p:sp>
        <p:nvSpPr>
          <p:cNvPr id="21" name="Shape 14"/>
          <p:cNvSpPr/>
          <p:nvPr/>
        </p:nvSpPr>
        <p:spPr>
          <a:xfrm>
            <a:off x="4657725" y="800100"/>
            <a:ext cx="4271963" cy="1428750"/>
          </a:xfrm>
          <a:prstGeom prst="roundRect">
            <a:avLst>
              <a:gd name="adj" fmla="val 2560"/>
            </a:avLst>
          </a:prstGeom>
          <a:solidFill>
            <a:srgbClr val="FFFFFF"/>
          </a:solidFill>
          <a:ln w="6191">
            <a:solidFill>
              <a:srgbClr val="E5E7E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79169" y="921544"/>
            <a:ext cx="402907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打断时机场景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779169" y="123586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早打断</a:t>
            </a:r>
            <a:endParaRPr lang="en-US" sz="600" dirty="0"/>
          </a:p>
        </p:txBody>
      </p:sp>
      <p:sp>
        <p:nvSpPr>
          <p:cNvPr id="24" name="Shape 17"/>
          <p:cNvSpPr/>
          <p:nvPr/>
        </p:nvSpPr>
        <p:spPr>
          <a:xfrm>
            <a:off x="5407819" y="1178719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191">
            <a:solidFill>
              <a:srgbClr val="BBF7D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414572" y="1185863"/>
            <a:ext cx="414338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519" y="1275159"/>
            <a:ext cx="64294" cy="6429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966761" y="1235869"/>
            <a:ext cx="728663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0.5s 打断</a:t>
            </a:r>
            <a:endParaRPr lang="en-US" sz="600" dirty="0"/>
          </a:p>
        </p:txBody>
      </p:sp>
      <p:sp>
        <p:nvSpPr>
          <p:cNvPr id="29" name="Text 21"/>
          <p:cNvSpPr/>
          <p:nvPr/>
        </p:nvSpPr>
        <p:spPr>
          <a:xfrm>
            <a:off x="4779169" y="1550194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中打断</a:t>
            </a:r>
            <a:endParaRPr lang="en-US" sz="600" dirty="0"/>
          </a:p>
        </p:txBody>
      </p:sp>
      <p:sp>
        <p:nvSpPr>
          <p:cNvPr id="30" name="Shape 22"/>
          <p:cNvSpPr/>
          <p:nvPr/>
        </p:nvSpPr>
        <p:spPr>
          <a:xfrm>
            <a:off x="5407819" y="1493044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EFCE8"/>
          </a:solidFill>
          <a:ln w="6191">
            <a:solidFill>
              <a:srgbClr val="FEF08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416358" y="1500188"/>
            <a:ext cx="1100138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891" y="1589484"/>
            <a:ext cx="64294" cy="6429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56412" y="1550194"/>
            <a:ext cx="6572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2s 打断</a:t>
            </a:r>
            <a:endParaRPr lang="en-US" sz="600" dirty="0"/>
          </a:p>
        </p:txBody>
      </p:sp>
      <p:sp>
        <p:nvSpPr>
          <p:cNvPr id="35" name="Text 26"/>
          <p:cNvSpPr/>
          <p:nvPr/>
        </p:nvSpPr>
        <p:spPr>
          <a:xfrm>
            <a:off x="4779169" y="1864519"/>
            <a:ext cx="5715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晚打断</a:t>
            </a:r>
            <a:endParaRPr lang="en-US" sz="600" dirty="0"/>
          </a:p>
        </p:txBody>
      </p:sp>
      <p:sp>
        <p:nvSpPr>
          <p:cNvPr id="36" name="Shape 27"/>
          <p:cNvSpPr/>
          <p:nvPr/>
        </p:nvSpPr>
        <p:spPr>
          <a:xfrm>
            <a:off x="5407819" y="1807369"/>
            <a:ext cx="2771775" cy="22860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6191">
            <a:solidFill>
              <a:srgbClr val="FECAC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5415632" y="1814513"/>
            <a:ext cx="1928813" cy="214313"/>
          </a:xfrm>
          <a:prstGeom prst="rect">
            <a:avLst/>
          </a:prstGeom>
          <a:solidFill>
            <a:srgbClr val="C7020E">
              <a:alpha val="60000"/>
            </a:srgbClr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114" y="1903809"/>
            <a:ext cx="64294" cy="6429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483748" y="1864519"/>
            <a:ext cx="6572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开始 5s 打断</a:t>
            </a:r>
            <a:endParaRPr lang="en-US" sz="600" dirty="0"/>
          </a:p>
        </p:txBody>
      </p:sp>
      <p:sp>
        <p:nvSpPr>
          <p:cNvPr id="41" name="Text 31"/>
          <p:cNvSpPr/>
          <p:nvPr/>
        </p:nvSpPr>
        <p:spPr>
          <a:xfrm>
            <a:off x="214313" y="2343150"/>
            <a:ext cx="577215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测试用例设计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72711"/>
              </p:ext>
            </p:extLst>
          </p:nvPr>
        </p:nvGraphicFramePr>
        <p:xfrm>
          <a:off x="214313" y="2571750"/>
          <a:ext cx="4899831" cy="1143000"/>
        </p:xfrm>
        <a:graphic>
          <a:graphicData uri="http://schemas.openxmlformats.org/drawingml/2006/table">
            <a:tbl>
              <a:tblPr/>
              <a:tblGrid>
                <a:gridCol w="10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用例类型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触发时机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音频文件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0.5s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mixed_interrupt_early_0.5s.wav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2s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mixed_interrupt_mid_2s.wav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晚打断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TTS 开始 5s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mixed_interrupt_late_5s.wav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假打断过滤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背景噪音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mixed_fake_interrupt_noise.wav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Text 33"/>
          <p:cNvSpPr/>
          <p:nvPr/>
        </p:nvSpPr>
        <p:spPr>
          <a:xfrm>
            <a:off x="6656412" y="2648087"/>
            <a:ext cx="260032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5579269" y="2924040"/>
            <a:ext cx="26003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&gt;90%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5579269" y="3152640"/>
            <a:ext cx="26003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打断成功率</a:t>
            </a:r>
            <a:endParaRPr lang="en-US" sz="600" dirty="0"/>
          </a:p>
        </p:txBody>
      </p:sp>
      <p:sp>
        <p:nvSpPr>
          <p:cNvPr id="55" name="Shape 44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56" name="Text 45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57" name="Text 46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 / 共 5 页</a:t>
            </a:r>
            <a:endParaRPr lang="en-US" sz="6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轮次检测：VAD 轮次划分与测试场景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313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0038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turn_detection.type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00038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server_vad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14588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500313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threshold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500313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00313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0.3-0.7 可调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4614862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700587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silence_duration_ms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700587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00587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0.3-1.0s 可调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6815138" y="800100"/>
            <a:ext cx="2114550" cy="600075"/>
          </a:xfrm>
          <a:prstGeom prst="roundRect">
            <a:avLst>
              <a:gd name="adj" fmla="val 3628"/>
            </a:avLst>
          </a:prstGeom>
          <a:solidFill>
            <a:srgbClr val="C7020E">
              <a:alpha val="1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900863" y="885825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prefix_padding_ms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900863" y="1028700"/>
            <a:ext cx="1943100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00863" y="1200150"/>
            <a:ext cx="194310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保留语音开头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14313" y="1514475"/>
            <a:ext cx="871537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测试场景分类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313" y="1743075"/>
          <a:ext cx="8715375" cy="1600200"/>
        </p:xfrm>
        <a:graphic>
          <a:graphicData uri="http://schemas.openxmlformats.org/drawingml/2006/table">
            <a:tbl>
              <a:tblPr/>
              <a:tblGrid>
                <a:gridCol w="142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8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测试目的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音频文件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预期结果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短语音检测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interrupt_short_hold.wav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中等长度语音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interrupt_medium_question.wav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正常轮次 - 长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长语音连续性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interrupt_long_confirm.wav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检测到轮次，有 ASR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短语音过滤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超短语音过滤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boundary_too_short_200ms.wav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不触发或忽略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静音超时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长时间静音后轮次结束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boundary_silence_5s.wav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触发超时后结束轮次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背景噪音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抗干扰能力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boundary_background_noise.wav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不触发或正确过滤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2866" marR="72866" marT="48578" marB="485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5158680" y="3457575"/>
            <a:ext cx="1564481" cy="514350"/>
          </a:xfrm>
          <a:prstGeom prst="roundRect">
            <a:avLst>
              <a:gd name="adj" fmla="val 4938"/>
            </a:avLst>
          </a:prstGeom>
          <a:solidFill>
            <a:srgbClr val="F9FAFB"/>
          </a:solidFill>
          <a:ln/>
        </p:spPr>
      </p:sp>
      <p:sp>
        <p:nvSpPr>
          <p:cNvPr id="34" name="Text 30"/>
          <p:cNvSpPr/>
          <p:nvPr/>
        </p:nvSpPr>
        <p:spPr>
          <a:xfrm>
            <a:off x="5244405" y="3543300"/>
            <a:ext cx="13930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轮次划分准确率</a:t>
            </a:r>
            <a:endParaRPr lang="en-US" sz="600" dirty="0"/>
          </a:p>
        </p:txBody>
      </p:sp>
      <p:sp>
        <p:nvSpPr>
          <p:cNvPr id="35" name="Text 31"/>
          <p:cNvSpPr/>
          <p:nvPr/>
        </p:nvSpPr>
        <p:spPr>
          <a:xfrm>
            <a:off x="5244405" y="3686175"/>
            <a:ext cx="1393031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&gt;90%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836569" y="3457575"/>
            <a:ext cx="2093119" cy="514350"/>
          </a:xfrm>
          <a:prstGeom prst="roundRect">
            <a:avLst>
              <a:gd name="adj" fmla="val 4938"/>
            </a:avLst>
          </a:prstGeom>
          <a:solidFill>
            <a:srgbClr val="1F2937"/>
          </a:solidFill>
          <a:ln/>
        </p:spPr>
      </p:sp>
      <p:sp>
        <p:nvSpPr>
          <p:cNvPr id="37" name="Text 33"/>
          <p:cNvSpPr/>
          <p:nvPr/>
        </p:nvSpPr>
        <p:spPr>
          <a:xfrm>
            <a:off x="7200900" y="3600450"/>
            <a:ext cx="1364456" cy="2286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test_turn_detection.py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--token sk-health-xxx --all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39" name="Text 35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 / 共 5 页</a:t>
            </a:r>
            <a:endParaRPr lang="en-US" sz="6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C7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59" y="178594"/>
            <a:ext cx="142875" cy="142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4344" y="150019"/>
            <a:ext cx="9001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02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315325" y="171450"/>
            <a:ext cx="60007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技术方案汇报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4313" y="457200"/>
            <a:ext cx="871537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关键指标：性能指标与调优参数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3" y="800100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5763" y="778669"/>
            <a:ext cx="7200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性能指标总览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46737"/>
              </p:ext>
            </p:extLst>
          </p:nvPr>
        </p:nvGraphicFramePr>
        <p:xfrm>
          <a:off x="214313" y="1000125"/>
          <a:ext cx="2828925" cy="1400175"/>
        </p:xfrm>
        <a:graphic>
          <a:graphicData uri="http://schemas.openxmlformats.org/drawingml/2006/table">
            <a:tbl>
              <a:tblPr/>
              <a:tblGrid>
                <a:gridCol w="628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打断效果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 err="1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打断成功率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&gt;90%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 err="1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轮次检测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 err="1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划分准确率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&gt;90%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 err="1">
                          <a:solidFill>
                            <a:srgbClr val="9CA3AF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待测试</a:t>
                      </a:r>
                      <a:endParaRPr lang="en-US" sz="600" dirty="0">
                        <a:latin typeface="Microsoft YaHei" charset="0"/>
                        <a:ea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538" y="800100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28987" y="778669"/>
            <a:ext cx="1307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VAD 参数（.env）</a:t>
            </a:r>
            <a:endParaRPr lang="en-US" sz="9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7538" y="1000125"/>
          <a:ext cx="2828925" cy="2371725"/>
        </p:xfrm>
        <a:graphic>
          <a:graphicData uri="http://schemas.openxmlformats.org/drawingml/2006/table">
            <a:tbl>
              <a:tblPr/>
              <a:tblGrid>
                <a:gridCol w="757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3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调优范围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VAD_ACTIVATION_THRESHOLD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0.3-0.7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降低=更敏感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VAD_MIN_SPEECH_DURATION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0.05-0.2s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降低=更短语音可触发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VAD_MIN_SILENCE_DURATION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0.3-1.0s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降低=更快判定轮次结束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SESSION_MIN_INTERRUPTION_DURATION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0.5-2.0s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145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降低=更易打断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050" y="800100"/>
            <a:ext cx="114300" cy="1143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00788" y="778669"/>
            <a:ext cx="16369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前端参数 (use-voice-chat.ts)</a:t>
            </a:r>
            <a:endParaRPr lang="en-US" sz="9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00763" y="1000125"/>
          <a:ext cx="2828925" cy="714375"/>
        </p:xfrm>
        <a:graphic>
          <a:graphicData uri="http://schemas.openxmlformats.org/drawingml/2006/table">
            <a:tbl>
              <a:tblPr/>
              <a:tblGrid>
                <a:gridCol w="1694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5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36433" marB="3643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energyThreshold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20-50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softInterruptDuration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200-500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374151"/>
                          </a:solidFill>
                          <a:latin typeface="ui-monospace" pitchFamily="34" charset="0"/>
                          <a:ea typeface="ui-monospace" pitchFamily="34" charset="-122"/>
                          <a:cs typeface="ui-monospace" pitchFamily="34" charset="-120"/>
                        </a:rPr>
                        <a:t>hardInterruptDuration</a:t>
                      </a:r>
                      <a:endParaRPr lang="en-US" sz="600" dirty="0">
                        <a:latin typeface="ui-monospace" charset="0"/>
                        <a:ea typeface="ui-monospace" charset="0"/>
                        <a:cs typeface="ui-monospace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b="1" dirty="0">
                          <a:solidFill>
                            <a:srgbClr val="C702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00" dirty="0">
                          <a:solidFill>
                            <a:srgbClr val="4B556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400-800</a:t>
                      </a:r>
                      <a:endParaRPr lang="en-US" sz="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8578" marR="48578" marT="24289" marB="2428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762" y="2714625"/>
            <a:ext cx="85725" cy="8572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243638" y="2678906"/>
            <a:ext cx="4800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调优建议</a:t>
            </a:r>
            <a:endParaRPr lang="en-US" sz="900" dirty="0"/>
          </a:p>
        </p:txBody>
      </p:sp>
      <p:sp>
        <p:nvSpPr>
          <p:cNvPr id="18" name="Shape 8"/>
          <p:cNvSpPr/>
          <p:nvPr/>
        </p:nvSpPr>
        <p:spPr>
          <a:xfrm>
            <a:off x="6100763" y="2900363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19" name="Text 9"/>
          <p:cNvSpPr/>
          <p:nvPr/>
        </p:nvSpPr>
        <p:spPr>
          <a:xfrm>
            <a:off x="6186488" y="2957513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打断不响应</a:t>
            </a:r>
            <a:endParaRPr lang="en-US" sz="600" dirty="0"/>
          </a:p>
        </p:txBody>
      </p:sp>
      <p:sp>
        <p:nvSpPr>
          <p:cNvPr id="20" name="Text 10"/>
          <p:cNvSpPr/>
          <p:nvPr/>
        </p:nvSpPr>
        <p:spPr>
          <a:xfrm>
            <a:off x="6186487" y="3100388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</a:t>
            </a:r>
            <a:endParaRPr lang="en-US" sz="600" dirty="0"/>
          </a:p>
        </p:txBody>
      </p:sp>
      <p:sp>
        <p:nvSpPr>
          <p:cNvPr id="21" name="Text 11"/>
          <p:cNvSpPr/>
          <p:nvPr/>
        </p:nvSpPr>
        <p:spPr>
          <a:xfrm>
            <a:off x="6382438" y="3114675"/>
            <a:ext cx="1614488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SESSION_MIN_INTERRUPTION_DURATION</a:t>
            </a:r>
            <a:endParaRPr lang="en-US" sz="600" dirty="0"/>
          </a:p>
        </p:txBody>
      </p:sp>
      <p:sp>
        <p:nvSpPr>
          <p:cNvPr id="22" name="Text 12"/>
          <p:cNvSpPr/>
          <p:nvPr/>
        </p:nvSpPr>
        <p:spPr>
          <a:xfrm>
            <a:off x="7995977" y="3100388"/>
            <a:ext cx="3122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0.5s</a:t>
            </a:r>
            <a:endParaRPr lang="en-US" sz="600" dirty="0"/>
          </a:p>
        </p:txBody>
      </p:sp>
      <p:sp>
        <p:nvSpPr>
          <p:cNvPr id="23" name="Shape 13"/>
          <p:cNvSpPr/>
          <p:nvPr/>
        </p:nvSpPr>
        <p:spPr>
          <a:xfrm>
            <a:off x="6100763" y="3336131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24" name="Text 14"/>
          <p:cNvSpPr/>
          <p:nvPr/>
        </p:nvSpPr>
        <p:spPr>
          <a:xfrm>
            <a:off x="6186488" y="3393281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误打断频繁</a:t>
            </a:r>
            <a:endParaRPr lang="en-US" sz="600" dirty="0"/>
          </a:p>
        </p:txBody>
      </p:sp>
      <p:sp>
        <p:nvSpPr>
          <p:cNvPr id="25" name="Text 15"/>
          <p:cNvSpPr/>
          <p:nvPr/>
        </p:nvSpPr>
        <p:spPr>
          <a:xfrm>
            <a:off x="6186487" y="3536156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</a:t>
            </a:r>
            <a:endParaRPr lang="en-US" sz="600" dirty="0"/>
          </a:p>
        </p:txBody>
      </p:sp>
      <p:sp>
        <p:nvSpPr>
          <p:cNvPr id="26" name="Text 16"/>
          <p:cNvSpPr/>
          <p:nvPr/>
        </p:nvSpPr>
        <p:spPr>
          <a:xfrm>
            <a:off x="6384615" y="3550444"/>
            <a:ext cx="1185863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VAD_ACTIVATION_THRESHOLD</a:t>
            </a:r>
            <a:endParaRPr lang="en-US" sz="600" dirty="0"/>
          </a:p>
        </p:txBody>
      </p:sp>
      <p:sp>
        <p:nvSpPr>
          <p:cNvPr id="27" name="Text 17"/>
          <p:cNvSpPr/>
          <p:nvPr/>
        </p:nvSpPr>
        <p:spPr>
          <a:xfrm>
            <a:off x="7571705" y="3536156"/>
            <a:ext cx="43669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0.6-0.7</a:t>
            </a:r>
            <a:endParaRPr lang="en-US" sz="600" dirty="0"/>
          </a:p>
        </p:txBody>
      </p:sp>
      <p:sp>
        <p:nvSpPr>
          <p:cNvPr id="28" name="Shape 18"/>
          <p:cNvSpPr/>
          <p:nvPr/>
        </p:nvSpPr>
        <p:spPr>
          <a:xfrm>
            <a:off x="6100763" y="3771900"/>
            <a:ext cx="2828925" cy="378619"/>
          </a:xfrm>
          <a:prstGeom prst="roundRect">
            <a:avLst>
              <a:gd name="adj" fmla="val 4557"/>
            </a:avLst>
          </a:prstGeom>
          <a:solidFill>
            <a:srgbClr val="FEFCE8"/>
          </a:solidFill>
          <a:ln/>
        </p:spPr>
      </p:sp>
      <p:sp>
        <p:nvSpPr>
          <p:cNvPr id="29" name="Text 19"/>
          <p:cNvSpPr/>
          <p:nvPr/>
        </p:nvSpPr>
        <p:spPr>
          <a:xfrm>
            <a:off x="6186488" y="3829050"/>
            <a:ext cx="26860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54D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轮次检测不准确</a:t>
            </a:r>
            <a:endParaRPr lang="en-US" sz="600" dirty="0"/>
          </a:p>
        </p:txBody>
      </p:sp>
      <p:sp>
        <p:nvSpPr>
          <p:cNvPr id="30" name="Text 20"/>
          <p:cNvSpPr/>
          <p:nvPr/>
        </p:nvSpPr>
        <p:spPr>
          <a:xfrm>
            <a:off x="6186487" y="3971925"/>
            <a:ext cx="2067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</a:t>
            </a:r>
            <a:endParaRPr lang="en-US" sz="600" dirty="0"/>
          </a:p>
        </p:txBody>
      </p:sp>
      <p:sp>
        <p:nvSpPr>
          <p:cNvPr id="31" name="Text 21"/>
          <p:cNvSpPr/>
          <p:nvPr/>
        </p:nvSpPr>
        <p:spPr>
          <a:xfrm>
            <a:off x="6384615" y="3986213"/>
            <a:ext cx="1185863" cy="100012"/>
          </a:xfrm>
          <a:prstGeom prst="roundRect">
            <a:avLst>
              <a:gd name="adj" fmla="val 65306"/>
            </a:avLst>
          </a:prstGeom>
          <a:solidFill>
            <a:srgbClr val="FEF9C3"/>
          </a:solidFill>
          <a:ln/>
        </p:spPr>
        <p:txBody>
          <a:bodyPr wrap="none" lIns="24289" tIns="0" rIns="24289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VAD_MIN_SILENCE_DURATION</a:t>
            </a:r>
            <a:endParaRPr lang="en-US" sz="600" dirty="0"/>
          </a:p>
        </p:txBody>
      </p:sp>
      <p:sp>
        <p:nvSpPr>
          <p:cNvPr id="32" name="Text 22"/>
          <p:cNvSpPr/>
          <p:nvPr/>
        </p:nvSpPr>
        <p:spPr>
          <a:xfrm>
            <a:off x="7571705" y="3971925"/>
            <a:ext cx="4784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 0.6-0.8s</a:t>
            </a:r>
            <a:endParaRPr lang="en-US" sz="600" dirty="0"/>
          </a:p>
        </p:txBody>
      </p:sp>
      <p:sp>
        <p:nvSpPr>
          <p:cNvPr id="33" name="Shape 23"/>
          <p:cNvSpPr/>
          <p:nvPr/>
        </p:nvSpPr>
        <p:spPr>
          <a:xfrm>
            <a:off x="0" y="4929188"/>
            <a:ext cx="9144000" cy="214313"/>
          </a:xfrm>
          <a:prstGeom prst="rect">
            <a:avLst/>
          </a:prstGeom>
          <a:ln/>
        </p:spPr>
      </p:sp>
      <p:sp>
        <p:nvSpPr>
          <p:cNvPr id="34" name="Text 24"/>
          <p:cNvSpPr/>
          <p:nvPr/>
        </p:nvSpPr>
        <p:spPr>
          <a:xfrm>
            <a:off x="228600" y="4982766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健康管理助手项目组</a:t>
            </a:r>
            <a:endParaRPr lang="en-US" sz="600" dirty="0"/>
          </a:p>
        </p:txBody>
      </p:sp>
      <p:sp>
        <p:nvSpPr>
          <p:cNvPr id="35" name="Text 25"/>
          <p:cNvSpPr/>
          <p:nvPr/>
        </p:nvSpPr>
        <p:spPr>
          <a:xfrm>
            <a:off x="8281336" y="4982766"/>
            <a:ext cx="6357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 / 共 5 页</a:t>
            </a:r>
            <a:endParaRPr lang="en-US" sz="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0763" y="2900363"/>
            <a:ext cx="2828925" cy="378619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0763" y="3336131"/>
            <a:ext cx="2828925" cy="378619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00763" y="3771900"/>
            <a:ext cx="2828925" cy="378619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4929188"/>
            <a:ext cx="9144000" cy="21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540</Words>
  <Application>Microsoft Office PowerPoint</Application>
  <PresentationFormat>全屏显示(16:9)</PresentationFormat>
  <Paragraphs>191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Microsoft YaHei</vt:lpstr>
      <vt:lpstr>ui-monospace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稳 陈</cp:lastModifiedBy>
  <cp:revision>2</cp:revision>
  <dcterms:created xsi:type="dcterms:W3CDTF">2026-04-07T12:50:24Z</dcterms:created>
  <dcterms:modified xsi:type="dcterms:W3CDTF">2026-04-08T01:48:53Z</dcterms:modified>
</cp:coreProperties>
</file>
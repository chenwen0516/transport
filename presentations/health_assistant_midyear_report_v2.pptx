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1234440"/>
            <a:ext cx="109270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64592" cy="4114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74519"/>
            <a:ext cx="9692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365D"/>
                </a:solidFill>
                <a:latin typeface="Microsoft YaHei"/>
              </a:defRPr>
            </a:pPr>
            <a:r>
              <a:t>健康管理助手语音交互评测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697480"/>
            <a:ext cx="9692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E75B6"/>
                </a:solidFill>
                <a:latin typeface="Microsoft YaHei"/>
              </a:defRPr>
            </a:pPr>
            <a:r>
              <a:t>半年度述职报告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8404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95959"/>
                </a:solidFill>
                <a:latin typeface="Microsoft YaHei"/>
              </a:defRPr>
            </a:pPr>
            <a:r>
              <a:t>工作方向：打断 / 轮次检测 / FDB 评测 / ASR &amp; TTS 性能验证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Arial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65D"/>
                </a:solidFill>
                <a:latin typeface="Microsoft YaHei"/>
              </a:defRPr>
            </a:pPr>
            <a:r>
              <a:t>01 工作内容概览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  <a:latin typeface="Microsoft YaHei"/>
              </a:defRPr>
            </a:pPr>
            <a:r>
              <a:t>围绕语音交互链路，完成测试验证、数据分析与问题定位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91440" cy="4480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54480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打断与轮次检测测试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47672"/>
            <a:ext cx="3154679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595959"/>
                </a:solidFill>
                <a:latin typeface="Microsoft YaHei"/>
              </a:defRPr>
            </a:pPr>
            <a:r>
              <a:t>• 覆盖自研模型、Qwen3、Seed、Omni 等多个模型</a:t>
            </a:r>
          </a:p>
          <a:p>
            <a:pPr>
              <a:spcAft>
                <a:spcPts val="500"/>
              </a:spcAft>
              <a:defRPr sz="1250">
                <a:solidFill>
                  <a:srgbClr val="595959"/>
                </a:solidFill>
                <a:latin typeface="Microsoft YaHei"/>
              </a:defRPr>
            </a:pPr>
            <a:r>
              <a:t>• 累计完成打断和轮次检测场景测试各 70+ 条</a:t>
            </a:r>
          </a:p>
          <a:p>
            <a:pPr>
              <a:spcAft>
                <a:spcPts val="500"/>
              </a:spcAft>
              <a:defRPr sz="1250">
                <a:solidFill>
                  <a:srgbClr val="595959"/>
                </a:solidFill>
                <a:latin typeface="Microsoft YaHei"/>
              </a:defRPr>
            </a:pPr>
            <a:r>
              <a:t>• 记录响应时延、打断成功率、轮次切换准确率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91440" cy="44805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554480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FDB 测试集评测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947672"/>
            <a:ext cx="3154679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595959"/>
                </a:solidFill>
                <a:latin typeface="Microsoft YaHei"/>
              </a:defRPr>
            </a:pPr>
            <a:r>
              <a:t>• 完成小测试集初步跑通</a:t>
            </a:r>
          </a:p>
          <a:p>
            <a:pPr>
              <a:spcAft>
                <a:spcPts val="500"/>
              </a:spcAft>
              <a:defRPr sz="1250">
                <a:solidFill>
                  <a:srgbClr val="595959"/>
                </a:solidFill>
                <a:latin typeface="Microsoft YaHei"/>
              </a:defRPr>
            </a:pPr>
            <a:r>
              <a:t>• 对 Qwen 系列模型开展打断与轮次检测评测</a:t>
            </a:r>
          </a:p>
          <a:p>
            <a:pPr>
              <a:spcAft>
                <a:spcPts val="500"/>
              </a:spcAft>
              <a:defRPr sz="1250">
                <a:solidFill>
                  <a:srgbClr val="595959"/>
                </a:solidFill>
                <a:latin typeface="Microsoft YaHei"/>
              </a:defRPr>
            </a:pPr>
            <a:r>
              <a:t>• 沉淀初步评测基线与流程经验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417320"/>
            <a:ext cx="91440" cy="44805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554480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ASR / TTS 链路验证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947672"/>
            <a:ext cx="3154679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595959"/>
                </a:solidFill>
                <a:latin typeface="Microsoft YaHei"/>
              </a:defRPr>
            </a:pPr>
            <a:r>
              <a:t>• 参与阿里云 ASR 时间戳脚本开发与验证</a:t>
            </a:r>
          </a:p>
          <a:p>
            <a:pPr>
              <a:spcAft>
                <a:spcPts val="500"/>
              </a:spcAft>
              <a:defRPr sz="1250">
                <a:solidFill>
                  <a:srgbClr val="595959"/>
                </a:solidFill>
                <a:latin typeface="Microsoft YaHei"/>
              </a:defRPr>
            </a:pPr>
            <a:r>
              <a:t>• 推进录音文件自动转写流程</a:t>
            </a:r>
          </a:p>
          <a:p>
            <a:pPr>
              <a:spcAft>
                <a:spcPts val="500"/>
              </a:spcAft>
              <a:defRPr sz="1250">
                <a:solidFill>
                  <a:srgbClr val="595959"/>
                </a:solidFill>
                <a:latin typeface="Microsoft YaHei"/>
              </a:defRPr>
            </a:pPr>
            <a:r>
              <a:t>• 配合 TTS 推理参数、双卡推理及音色效果验证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Arial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65D"/>
                </a:solidFill>
                <a:latin typeface="Microsoft YaHei"/>
              </a:defRPr>
            </a:pPr>
            <a:r>
              <a:t>02 关键成果与数据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  <a:latin typeface="Microsoft YaHei"/>
              </a:defRPr>
            </a:pPr>
            <a:r>
              <a:t>将语音交互效果从主观体验转化为可量化、可对比的数据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2011680" cy="132588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70+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39112"/>
            <a:ext cx="186537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打断场景测试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1325880"/>
            <a:ext cx="2011680" cy="132588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150876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70+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6392" y="2039112"/>
            <a:ext cx="186537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轮次检测测试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325880"/>
            <a:ext cx="2011680" cy="132588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9240" y="150876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62.5% / 61.5%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6672" y="2039112"/>
            <a:ext cx="186537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FDB 打断成功率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325880"/>
            <a:ext cx="2011680" cy="132588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150876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2377ms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6952" y="2039112"/>
            <a:ext cx="186537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平均响应时延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1325880"/>
            <a:ext cx="1600200" cy="132588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29800" y="1508760"/>
            <a:ext cx="1508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83%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57232" y="2039112"/>
            <a:ext cx="14538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轮次检测准确率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154680"/>
            <a:ext cx="51663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3154680"/>
            <a:ext cx="91440" cy="2103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329184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成果一：建立模型对比数据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3685032"/>
            <a:ext cx="484632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595959"/>
                </a:solidFill>
                <a:latin typeface="Microsoft YaHei"/>
              </a:defRPr>
            </a:pPr>
            <a:r>
              <a:t>• 对多个模型进行横向对比</a:t>
            </a:r>
          </a:p>
          <a:p>
            <a:pPr>
              <a:spcAft>
                <a:spcPts val="500"/>
              </a:spcAft>
              <a:defRPr sz="1250">
                <a:solidFill>
                  <a:srgbClr val="595959"/>
                </a:solidFill>
                <a:latin typeface="Microsoft YaHei"/>
              </a:defRPr>
            </a:pPr>
            <a:r>
              <a:t>• 覆盖效果指标与性能指标</a:t>
            </a:r>
          </a:p>
          <a:p>
            <a:pPr>
              <a:spcAft>
                <a:spcPts val="500"/>
              </a:spcAft>
              <a:defRPr sz="1250">
                <a:solidFill>
                  <a:srgbClr val="595959"/>
                </a:solidFill>
                <a:latin typeface="Microsoft YaHei"/>
              </a:defRPr>
            </a:pPr>
            <a:r>
              <a:t>• 为模型优化提供基线数据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15468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3154680"/>
            <a:ext cx="91440" cy="21031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7" y="3291840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成果二：跑通评测流程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7" y="3685032"/>
            <a:ext cx="480060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595959"/>
                </a:solidFill>
                <a:latin typeface="Microsoft YaHei"/>
              </a:defRPr>
            </a:pPr>
            <a:r>
              <a:t>• 小规模验证 FDB 流程可行性</a:t>
            </a:r>
          </a:p>
          <a:p>
            <a:pPr>
              <a:spcAft>
                <a:spcPts val="500"/>
              </a:spcAft>
              <a:defRPr sz="1250">
                <a:solidFill>
                  <a:srgbClr val="595959"/>
                </a:solidFill>
                <a:latin typeface="Microsoft YaHei"/>
              </a:defRPr>
            </a:pPr>
            <a:r>
              <a:t>• 降低后续大规模评测风险</a:t>
            </a:r>
          </a:p>
          <a:p>
            <a:pPr>
              <a:spcAft>
                <a:spcPts val="500"/>
              </a:spcAft>
              <a:defRPr sz="1250">
                <a:solidFill>
                  <a:srgbClr val="595959"/>
                </a:solidFill>
                <a:latin typeface="Microsoft YaHei"/>
              </a:defRPr>
            </a:pPr>
            <a:r>
              <a:t>• 为后续扩展更多模型提供基础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Arial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65D"/>
                </a:solidFill>
                <a:latin typeface="Microsoft YaHei"/>
              </a:defRPr>
            </a:pPr>
            <a:r>
              <a:t>03 对团队和业务的贡献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  <a:latin typeface="Microsoft YaHei"/>
              </a:defRPr>
            </a:pPr>
            <a:r>
              <a:t>支撑健康管理助手语音交互体验优化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241280" cy="2834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  <a:latin typeface="Microsoft YaHei"/>
              </a:defRPr>
            </a:pPr>
            <a:r>
              <a:t>• 通过打断、轮次检测等关键场景测试，帮助团队识别模型能力边界和优化方向。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  <a:latin typeface="Microsoft YaHei"/>
              </a:defRPr>
            </a:pPr>
            <a:r>
              <a:t>• 结合日志、音频结果和模型输出定位问题，提升算法与开发同学的问题闭环效率。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  <a:latin typeface="Microsoft YaHei"/>
              </a:defRPr>
            </a:pPr>
            <a:r>
              <a:t>• 推进 ASR 自动转写流程建设，减少人工整理数据成本，提升测试数据处理效率。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  <a:latin typeface="Microsoft YaHei"/>
              </a:defRPr>
            </a:pPr>
            <a:r>
              <a:t>• 配合 TTS 性能验证，帮助团队了解推理参数、双卡推理和音色效果表现。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892040"/>
            <a:ext cx="1600200" cy="59436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测试执行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42032" y="5001768"/>
            <a:ext cx="347472" cy="384048"/>
          </a:xfrm>
          <a:prstGeom prst="rightArrow">
            <a:avLst/>
          </a:prstGeom>
          <a:solidFill>
            <a:srgbClr val="B4B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71800" y="4892040"/>
            <a:ext cx="1600200" cy="59436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5029200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数据统计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599432" y="5001768"/>
            <a:ext cx="347472" cy="384048"/>
          </a:xfrm>
          <a:prstGeom prst="rightArrow">
            <a:avLst/>
          </a:prstGeom>
          <a:solidFill>
            <a:srgbClr val="B4B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0" y="4892040"/>
            <a:ext cx="1600200" cy="59436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5029200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问题分析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656832" y="5001768"/>
            <a:ext cx="347472" cy="384048"/>
          </a:xfrm>
          <a:prstGeom prst="rightArrow">
            <a:avLst/>
          </a:prstGeom>
          <a:solidFill>
            <a:srgbClr val="B4B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086600" y="4892040"/>
            <a:ext cx="1600200" cy="59436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5029200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结果同步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14232" y="5001768"/>
            <a:ext cx="347472" cy="384048"/>
          </a:xfrm>
          <a:prstGeom prst="rightArrow">
            <a:avLst/>
          </a:prstGeom>
          <a:solidFill>
            <a:srgbClr val="B4B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0" y="4892040"/>
            <a:ext cx="1600200" cy="59436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5029200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优化支撑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Arial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65D"/>
                </a:solidFill>
                <a:latin typeface="Microsoft YaHei"/>
              </a:defRPr>
            </a:pPr>
            <a:r>
              <a:t>04 做得好的地方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  <a:latin typeface="Microsoft YaHei"/>
              </a:defRPr>
            </a:pPr>
            <a:r>
              <a:t>主动推进、细致分析、顺畅协作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32918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91440" cy="42976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55448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主动推进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947672"/>
            <a:ext cx="29718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595959"/>
                </a:solidFill>
                <a:latin typeface="Microsoft YaHei"/>
              </a:defRPr>
            </a:pPr>
            <a:r>
              <a:t>• 优先从小测试集切入</a:t>
            </a:r>
          </a:p>
          <a:p>
            <a:pPr>
              <a:spcAft>
                <a:spcPts val="500"/>
              </a:spcAft>
              <a:defRPr sz="1250">
                <a:solidFill>
                  <a:srgbClr val="595959"/>
                </a:solidFill>
                <a:latin typeface="Microsoft YaHei"/>
              </a:defRPr>
            </a:pPr>
            <a:r>
              <a:t>• 先验证流程可行性</a:t>
            </a:r>
          </a:p>
          <a:p>
            <a:pPr>
              <a:spcAft>
                <a:spcPts val="500"/>
              </a:spcAft>
              <a:defRPr sz="1250">
                <a:solidFill>
                  <a:srgbClr val="595959"/>
                </a:solidFill>
                <a:latin typeface="Microsoft YaHei"/>
              </a:defRPr>
            </a:pPr>
            <a:r>
              <a:t>• 减少后续大规模测试阻塞风险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2918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91440" cy="42976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55448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细致分析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1947672"/>
            <a:ext cx="29718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595959"/>
                </a:solidFill>
                <a:latin typeface="Microsoft YaHei"/>
              </a:defRPr>
            </a:pPr>
            <a:r>
              <a:t>• 不只关注准确率</a:t>
            </a:r>
          </a:p>
          <a:p>
            <a:pPr>
              <a:spcAft>
                <a:spcPts val="500"/>
              </a:spcAft>
              <a:defRPr sz="1250">
                <a:solidFill>
                  <a:srgbClr val="595959"/>
                </a:solidFill>
                <a:latin typeface="Microsoft YaHei"/>
              </a:defRPr>
            </a:pPr>
            <a:r>
              <a:t>• 同步记录响应耗时、打断延迟等数据</a:t>
            </a:r>
          </a:p>
          <a:p>
            <a:pPr>
              <a:spcAft>
                <a:spcPts val="500"/>
              </a:spcAft>
              <a:defRPr sz="1250">
                <a:solidFill>
                  <a:srgbClr val="595959"/>
                </a:solidFill>
                <a:latin typeface="Microsoft YaHei"/>
              </a:defRPr>
            </a:pPr>
            <a:r>
              <a:t>• 结合日志和音频结果分析问题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2918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91440" cy="42976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55448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协作闭环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947672"/>
            <a:ext cx="29718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595959"/>
                </a:solidFill>
                <a:latin typeface="Microsoft YaHei"/>
              </a:defRPr>
            </a:pPr>
            <a:r>
              <a:t>• 及时与算法、开发同学对齐进展</a:t>
            </a:r>
          </a:p>
          <a:p>
            <a:pPr>
              <a:spcAft>
                <a:spcPts val="500"/>
              </a:spcAft>
              <a:defRPr sz="1250">
                <a:solidFill>
                  <a:srgbClr val="595959"/>
                </a:solidFill>
                <a:latin typeface="Microsoft YaHei"/>
              </a:defRPr>
            </a:pPr>
            <a:r>
              <a:t>• 周会同步风险与阶段结论</a:t>
            </a:r>
          </a:p>
          <a:p>
            <a:pPr>
              <a:spcAft>
                <a:spcPts val="500"/>
              </a:spcAft>
              <a:defRPr sz="1250">
                <a:solidFill>
                  <a:srgbClr val="595959"/>
                </a:solidFill>
                <a:latin typeface="Microsoft YaHei"/>
              </a:defRPr>
            </a:pPr>
            <a:r>
              <a:t>• 推动测试问题尽快闭环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Arial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65D"/>
                </a:solidFill>
                <a:latin typeface="Microsoft YaHei"/>
              </a:defRPr>
            </a:pPr>
            <a:r>
              <a:t>05 不足与改进方向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  <a:latin typeface="Microsoft YaHei"/>
              </a:defRPr>
            </a:pPr>
            <a:r>
              <a:t>从“完成测试”进一步走向“体系化评测”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52578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91440" cy="192024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463039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不足一：复杂场景覆盖不够全面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856231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595959"/>
                </a:solidFill>
                <a:latin typeface="Microsoft YaHei"/>
              </a:defRPr>
            </a:pPr>
            <a:r>
              <a:t>• 连续打断、长停顿恢复、多角色混说等边界 Case 仍需补充</a:t>
            </a:r>
          </a:p>
          <a:p>
            <a:pPr>
              <a:spcAft>
                <a:spcPts val="500"/>
              </a:spcAft>
              <a:defRPr sz="1250">
                <a:solidFill>
                  <a:srgbClr val="595959"/>
                </a:solidFill>
                <a:latin typeface="Microsoft YaHei"/>
              </a:defRPr>
            </a:pPr>
            <a:r>
              <a:t>• 改进：建立标准化 Case 分类，逐步扩充复杂交互测试集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1663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325880"/>
            <a:ext cx="91440" cy="19202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463039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不足二：自动化程度仍需提升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1856231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595959"/>
                </a:solidFill>
                <a:latin typeface="Microsoft YaHei"/>
              </a:defRPr>
            </a:pPr>
            <a:r>
              <a:t>• 部分数据统计、结果整理和日志分析仍依赖手工处理</a:t>
            </a:r>
          </a:p>
          <a:p>
            <a:pPr>
              <a:spcAft>
                <a:spcPts val="500"/>
              </a:spcAft>
              <a:defRPr sz="1250">
                <a:solidFill>
                  <a:srgbClr val="595959"/>
                </a:solidFill>
                <a:latin typeface="Microsoft YaHei"/>
              </a:defRPr>
            </a:pPr>
            <a:r>
              <a:t>• 改进：完善批量转写、自动统计和日志分析脚本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657600"/>
            <a:ext cx="52578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657600"/>
            <a:ext cx="91440" cy="1920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7947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不足三：链路理解还需加深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4187952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595959"/>
                </a:solidFill>
                <a:latin typeface="Microsoft YaHei"/>
              </a:defRPr>
            </a:pPr>
            <a:r>
              <a:t>• 对语音交互链路、模型推理性能和 ASR/TTS 底层机制理解不够系统</a:t>
            </a:r>
          </a:p>
          <a:p>
            <a:pPr>
              <a:spcAft>
                <a:spcPts val="500"/>
              </a:spcAft>
              <a:defRPr sz="1250">
                <a:solidFill>
                  <a:srgbClr val="595959"/>
                </a:solidFill>
                <a:latin typeface="Microsoft YaHei"/>
              </a:defRPr>
            </a:pPr>
            <a:r>
              <a:t>• 改进：结合实际问题持续学习并沉淀复盘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657600"/>
            <a:ext cx="51663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657600"/>
            <a:ext cx="91440" cy="19202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7" y="379476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不足四：沟通表达可更结构化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7" y="4187952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595959"/>
                </a:solidFill>
                <a:latin typeface="Microsoft YaHei"/>
              </a:defRPr>
            </a:pPr>
            <a:r>
              <a:t>• 有时偏向现象描述，对影响范围、风险等级和建议方案总结不够充分</a:t>
            </a:r>
          </a:p>
          <a:p>
            <a:pPr>
              <a:spcAft>
                <a:spcPts val="500"/>
              </a:spcAft>
              <a:defRPr sz="1250">
                <a:solidFill>
                  <a:srgbClr val="595959"/>
                </a:solidFill>
                <a:latin typeface="Microsoft YaHei"/>
              </a:defRPr>
            </a:pPr>
            <a:r>
              <a:t>• 改进：沟通前整理背景、数据、复现方式和初步判断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Arial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65D"/>
                </a:solidFill>
                <a:latin typeface="Microsoft YaHei"/>
              </a:defRPr>
            </a:pPr>
            <a:r>
              <a:t>06 下一阶段计划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  <a:latin typeface="Microsoft YaHei"/>
              </a:defRPr>
            </a:pPr>
            <a:r>
              <a:t>加强规范化、自动化和问题定位能力沉淀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34290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91440" cy="33832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5087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目标 1：完善评测方案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901952"/>
            <a:ext cx="31089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595959"/>
                </a:solidFill>
                <a:latin typeface="Microsoft YaHei"/>
              </a:defRPr>
            </a:pPr>
            <a:r>
              <a:t>• 补充连续打断、长停顿、多角色混说、噪声环境等 Case</a:t>
            </a:r>
          </a:p>
          <a:p>
            <a:pPr>
              <a:spcAft>
                <a:spcPts val="500"/>
              </a:spcAft>
              <a:defRPr sz="1250">
                <a:solidFill>
                  <a:srgbClr val="595959"/>
                </a:solidFill>
                <a:latin typeface="Microsoft YaHei"/>
              </a:defRPr>
            </a:pPr>
            <a:r>
              <a:t>• 建立更完整的语音交互评测基线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71600"/>
            <a:ext cx="34290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371600"/>
            <a:ext cx="91440" cy="33832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5087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目标 2：推进 FDB 扩展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1901952"/>
            <a:ext cx="31089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595959"/>
                </a:solidFill>
                <a:latin typeface="Microsoft YaHei"/>
              </a:defRPr>
            </a:pPr>
            <a:r>
              <a:t>• 扩大测试规模</a:t>
            </a:r>
          </a:p>
          <a:p>
            <a:pPr>
              <a:spcAft>
                <a:spcPts val="500"/>
              </a:spcAft>
              <a:defRPr sz="1250">
                <a:solidFill>
                  <a:srgbClr val="595959"/>
                </a:solidFill>
                <a:latin typeface="Microsoft YaHei"/>
              </a:defRPr>
            </a:pPr>
            <a:r>
              <a:t>• 补充更多模型横向对比</a:t>
            </a:r>
          </a:p>
          <a:p>
            <a:pPr>
              <a:spcAft>
                <a:spcPts val="500"/>
              </a:spcAft>
              <a:defRPr sz="1250">
                <a:solidFill>
                  <a:srgbClr val="595959"/>
                </a:solidFill>
                <a:latin typeface="Microsoft YaHei"/>
              </a:defRPr>
            </a:pPr>
            <a:r>
              <a:t>• 形成更充分的数据支撑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71600"/>
            <a:ext cx="34290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371600"/>
            <a:ext cx="91440" cy="33832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5087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目标 3：提升自动化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901952"/>
            <a:ext cx="31089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595959"/>
                </a:solidFill>
                <a:latin typeface="Microsoft YaHei"/>
              </a:defRPr>
            </a:pPr>
            <a:r>
              <a:t>• 完善音频批量转写</a:t>
            </a:r>
          </a:p>
          <a:p>
            <a:pPr>
              <a:spcAft>
                <a:spcPts val="500"/>
              </a:spcAft>
              <a:defRPr sz="1250">
                <a:solidFill>
                  <a:srgbClr val="595959"/>
                </a:solidFill>
                <a:latin typeface="Microsoft YaHei"/>
              </a:defRPr>
            </a:pPr>
            <a:r>
              <a:t>• 实现结果自动统计和日志分析</a:t>
            </a:r>
          </a:p>
          <a:p>
            <a:pPr>
              <a:spcAft>
                <a:spcPts val="500"/>
              </a:spcAft>
              <a:defRPr sz="1250">
                <a:solidFill>
                  <a:srgbClr val="595959"/>
                </a:solidFill>
                <a:latin typeface="Microsoft YaHei"/>
              </a:defRPr>
            </a:pPr>
            <a:r>
              <a:t>• 沉淀性能指标汇总能力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5257800"/>
            <a:ext cx="10424160" cy="731520"/>
          </a:xfrm>
          <a:prstGeom prst="round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422392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A365D"/>
                </a:solidFill>
                <a:latin typeface="Microsoft YaHei"/>
              </a:defRPr>
            </a:pPr>
            <a:r>
              <a:t>一句话总结：完成基础评测和数据沉淀，下一阶段重点提升复杂场景覆盖、自动化效率和问题定位能力。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Arial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